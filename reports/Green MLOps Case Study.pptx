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302A"/>
                </a:solidFill>
                <a:latin typeface="Calibri"/>
              </a:defRPr>
            </a:pPr>
            <a:r>
              <a:rPr sz="1200" b="0" i="0" u="none" strike="noStrike">
                <a:solidFill>
                  <a:srgbClr val="16302A"/>
                </a:solidFill>
                <a:latin typeface="Calibri"/>
              </a:rPr>
              <a:t>Accuracy / F1 by variant</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2F6F5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Baseline</c:v>
                  </c:pt>
                  <c:pt idx="1">
                    <c:v>Quantized</c:v>
                  </c:pt>
                  <c:pt idx="2">
                    <c:v>Pruned</c:v>
                  </c:pt>
                </c:lvl>
              </c:multiLvlStrCache>
            </c:multiLvlStrRef>
          </c:cat>
          <c:val>
            <c:numRef>
              <c:f>Sheet1!$B$2:$B$4</c:f>
              <c:numCache>
                <c:formatCode>General</c:formatCode>
                <c:ptCount val="3"/>
                <c:pt idx="0">
                  <c:v>0.81</c:v>
                </c:pt>
                <c:pt idx="1">
                  <c:v>0.747</c:v>
                </c:pt>
                <c:pt idx="2">
                  <c:v>0.753</c:v>
                </c:pt>
              </c:numCache>
            </c:numRef>
          </c:val>
        </c:ser>
        <c:ser>
          <c:idx val="1"/>
          <c:order val="1"/>
          <c:tx>
            <c:strRef>
              <c:f>Sheet1!$C$1</c:f>
              <c:strCache>
                <c:ptCount val="1"/>
                <c:pt idx="0">
                  <c:v>F1</c:v>
                </c:pt>
              </c:strCache>
            </c:strRef>
          </c:tx>
          <c:spPr>
            <a:solidFill>
              <a:srgbClr val="8FBF9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Baseline</c:v>
                  </c:pt>
                  <c:pt idx="1">
                    <c:v>Quantized</c:v>
                  </c:pt>
                  <c:pt idx="2">
                    <c:v>Pruned</c:v>
                  </c:pt>
                </c:lvl>
              </c:multiLvlStrCache>
            </c:multiLvlStrRef>
          </c:cat>
          <c:val>
            <c:numRef>
              <c:f>Sheet1!$C$2:$C$4</c:f>
              <c:numCache>
                <c:formatCode>General</c:formatCode>
                <c:ptCount val="3"/>
                <c:pt idx="0">
                  <c:v>0.808</c:v>
                </c:pt>
                <c:pt idx="1">
                  <c:v>0.738</c:v>
                </c:pt>
                <c:pt idx="2">
                  <c:v>0.746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CA"/>
            </a:solidFill>
            <a:prstDash val="solid"/>
            <a:round/>
          </a:ln>
        </c:spPr>
        <c:txPr>
          <a:bodyPr/>
          <a:lstStyle/>
          <a:p>
            <a:pPr>
              <a:defRPr sz="1100" b="0" i="0" u="none" strike="noStrike">
                <a:solidFill>
                  <a:srgbClr val="4A5A52"/>
                </a:solidFill>
                <a:latin typeface="Calibri"/>
              </a:defRPr>
            </a:pPr>
            <a:endParaRPr lang="en-US"/>
          </a:p>
        </c:txPr>
        <c:crossAx val="2094734552"/>
        <c:crosses val="autoZero"/>
        <c:auto val="1"/>
        <c:lblAlgn val="ctr"/>
        <c:noMultiLvlLbl val="1"/>
      </c:catAx>
      <c:valAx>
        <c:axId val="2094734552"/>
        <c:scaling>
          <c:orientation val="minMax"/>
          <c:max val="1"/>
        </c:scaling>
        <c:delete val="0"/>
        <c:axPos val="l"/>
        <c:majorGridlines>
          <c:spPr>
            <a:ln w="9525" cap="flat">
              <a:solidFill>
                <a:srgbClr val="EDEA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A5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4A5A52"/>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302A"/>
                </a:solidFill>
                <a:latin typeface="Calibri"/>
              </a:defRPr>
            </a:pPr>
            <a:r>
              <a:rPr sz="1200" b="0" i="0" u="none" strike="noStrike">
                <a:solidFill>
                  <a:srgbClr val="16302A"/>
                </a:solidFill>
                <a:latin typeface="Calibri"/>
              </a:rPr>
              <a:t>Avg inference latency (ms)</a:t>
            </a:r>
          </a:p>
        </c:rich>
      </c:tx>
      <c:layout/>
      <c:overlay val="0"/>
    </c:title>
    <c:autoTitleDeleted val="0"/>
    <c:plotArea>
      <c:layout/>
      <c:barChart>
        <c:barDir val="col"/>
        <c:grouping val="clustered"/>
        <c:varyColors val="0"/>
        <c:ser>
          <c:idx val="0"/>
          <c:order val="0"/>
          <c:tx>
            <c:strRef>
              <c:f>Sheet1!$B$1</c:f>
              <c:strCache>
                <c:ptCount val="1"/>
                <c:pt idx="0">
                  <c:v>Latency (ms)</c:v>
                </c:pt>
              </c:strCache>
            </c:strRef>
          </c:tx>
          <c:spPr>
            <a:solidFill>
              <a:srgbClr val="C97A2B"/>
            </a:solidFill>
            <a:effectLst/>
          </c:spPr>
          <c:invertIfNegative val="0"/>
          <c:dLbls>
            <c:numFmt formatCode="#,##0" sourceLinked="0"/>
            <c:txPr>
              <a:bodyPr/>
              <a:lstStyle/>
              <a:p>
                <a:pPr>
                  <a:defRPr b="0" i="0" strike="noStrike" sz="1000" u="none">
                    <a:solidFill>
                      <a:srgbClr val="16302A"/>
                    </a:solidFill>
                    <a:latin typeface="Arial"/>
                  </a:defRPr>
                </a:pPr>
              </a:p>
            </c:txPr>
            <c:showLegendKey val="0"/>
            <c:showVal val="1"/>
            <c:showCatName val="0"/>
            <c:showSerName val="0"/>
            <c:showPercent val="0"/>
            <c:showBubbleSize val="0"/>
            <c:showLeaderLines val="0"/>
          </c:dLbls>
          <c:cat>
            <c:multiLvlStrRef>
              <c:f>Sheet1!$A$2:$A$4</c:f>
              <c:multiLvlStrCache>
                <c:ptCount val="3"/>
                <c:lvl>
                  <c:pt idx="0">
                    <c:v>Baseline</c:v>
                  </c:pt>
                  <c:pt idx="1">
                    <c:v>Quantized</c:v>
                  </c:pt>
                  <c:pt idx="2">
                    <c:v>Pruned</c:v>
                  </c:pt>
                </c:lvl>
              </c:multiLvlStrCache>
            </c:multiLvlStrRef>
          </c:cat>
          <c:val>
            <c:numRef>
              <c:f>Sheet1!$B$2:$B$4</c:f>
              <c:numCache>
                <c:formatCode>General</c:formatCode>
                <c:ptCount val="3"/>
                <c:pt idx="0">
                  <c:v>264.3</c:v>
                </c:pt>
                <c:pt idx="1">
                  <c:v>123</c:v>
                </c:pt>
                <c:pt idx="2">
                  <c:v>278.7</c:v>
                </c:pt>
              </c:numCache>
            </c:numRef>
          </c:val>
        </c:ser>
        <c:dLbls>
          <c:numFmt formatCode="#,##0" sourceLinked="0"/>
          <c:txPr>
            <a:bodyPr/>
            <a:lstStyle/>
            <a:p>
              <a:pPr>
                <a:defRPr b="0" i="0" strike="noStrike" sz="1000" u="none">
                  <a:solidFill>
                    <a:srgbClr val="16302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CA"/>
            </a:solidFill>
            <a:prstDash val="solid"/>
            <a:round/>
          </a:ln>
        </c:spPr>
        <c:txPr>
          <a:bodyPr/>
          <a:lstStyle/>
          <a:p>
            <a:pPr>
              <a:defRPr sz="1100" b="0" i="0" u="none" strike="noStrike">
                <a:solidFill>
                  <a:srgbClr val="4A5A5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DEA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A5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302A"/>
                </a:solidFill>
                <a:latin typeface="Calibri"/>
              </a:defRPr>
            </a:pPr>
            <a:r>
              <a:rPr sz="1200" b="0" i="0" u="none" strike="noStrike">
                <a:solidFill>
                  <a:srgbClr val="16302A"/>
                </a:solidFill>
                <a:latin typeface="Calibri"/>
              </a:rPr>
              <a:t>On-disk weights size (MB)</a:t>
            </a:r>
          </a:p>
        </c:rich>
      </c:tx>
      <c:layout/>
      <c:overlay val="0"/>
    </c:title>
    <c:autoTitleDeleted val="0"/>
    <c:plotArea>
      <c:layout/>
      <c:barChart>
        <c:barDir val="col"/>
        <c:grouping val="clustered"/>
        <c:varyColors val="0"/>
        <c:ser>
          <c:idx val="0"/>
          <c:order val="0"/>
          <c:tx>
            <c:strRef>
              <c:f>Sheet1!$B$1</c:f>
              <c:strCache>
                <c:ptCount val="1"/>
                <c:pt idx="0">
                  <c:v>Size (MB)</c:v>
                </c:pt>
              </c:strCache>
            </c:strRef>
          </c:tx>
          <c:spPr>
            <a:solidFill>
              <a:srgbClr val="2C6C8F"/>
            </a:solidFill>
            <a:effectLst/>
          </c:spPr>
          <c:invertIfNegative val="0"/>
          <c:dLbls>
            <c:numFmt formatCode="#,##0" sourceLinked="0"/>
            <c:txPr>
              <a:bodyPr/>
              <a:lstStyle/>
              <a:p>
                <a:pPr>
                  <a:defRPr b="0" i="0" strike="noStrike" sz="1000" u="none">
                    <a:solidFill>
                      <a:srgbClr val="16302A"/>
                    </a:solidFill>
                    <a:latin typeface="Arial"/>
                  </a:defRPr>
                </a:pPr>
              </a:p>
            </c:txPr>
            <c:showLegendKey val="0"/>
            <c:showVal val="1"/>
            <c:showCatName val="0"/>
            <c:showSerName val="0"/>
            <c:showPercent val="0"/>
            <c:showBubbleSize val="0"/>
            <c:showLeaderLines val="0"/>
          </c:dLbls>
          <c:cat>
            <c:multiLvlStrRef>
              <c:f>Sheet1!$A$2:$A$4</c:f>
              <c:multiLvlStrCache>
                <c:ptCount val="3"/>
                <c:lvl>
                  <c:pt idx="0">
                    <c:v>Baseline</c:v>
                  </c:pt>
                  <c:pt idx="1">
                    <c:v>Quantized</c:v>
                  </c:pt>
                  <c:pt idx="2">
                    <c:v>Pruned</c:v>
                  </c:pt>
                </c:lvl>
              </c:multiLvlStrCache>
            </c:multiLvlStrRef>
          </c:cat>
          <c:val>
            <c:numRef>
              <c:f>Sheet1!$B$2:$B$4</c:f>
              <c:numCache>
                <c:formatCode>General</c:formatCode>
                <c:ptCount val="3"/>
                <c:pt idx="0">
                  <c:v>255.4</c:v>
                </c:pt>
                <c:pt idx="1">
                  <c:v>132.3</c:v>
                </c:pt>
                <c:pt idx="2">
                  <c:v>255.4</c:v>
                </c:pt>
              </c:numCache>
            </c:numRef>
          </c:val>
        </c:ser>
        <c:dLbls>
          <c:numFmt formatCode="#,##0" sourceLinked="0"/>
          <c:txPr>
            <a:bodyPr/>
            <a:lstStyle/>
            <a:p>
              <a:pPr>
                <a:defRPr b="0" i="0" strike="noStrike" sz="1000" u="none">
                  <a:solidFill>
                    <a:srgbClr val="16302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2CA"/>
            </a:solidFill>
            <a:prstDash val="solid"/>
            <a:round/>
          </a:ln>
        </c:spPr>
        <c:txPr>
          <a:bodyPr/>
          <a:lstStyle/>
          <a:p>
            <a:pPr>
              <a:defRPr sz="1100" b="0" i="0" u="none" strike="noStrike">
                <a:solidFill>
                  <a:srgbClr val="4A5A5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DEA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A5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302A"/>
                </a:solidFill>
                <a:latin typeface="Calibri"/>
              </a:defRPr>
            </a:pPr>
            <a:r>
              <a:rPr sz="1300" b="0" i="0" u="none" strike="noStrike">
                <a:solidFill>
                  <a:srgbClr val="16302A"/>
                </a:solidFill>
                <a:latin typeface="Calibri"/>
              </a:rPr>
              <a:t>Latency vs. thread cap</a:t>
            </a:r>
          </a:p>
        </c:rich>
      </c:tx>
      <c:layout/>
      <c:overlay val="0"/>
    </c:title>
    <c:autoTitleDeleted val="0"/>
    <c:plotArea>
      <c:layout/>
      <c:lineChart>
        <c:varyColors val="0"/>
        <c:ser>
          <c:idx val="0"/>
          <c:order val="0"/>
          <c:tx>
            <c:strRef>
              <c:f>Sheet1!$B$1</c:f>
              <c:strCache>
                <c:ptCount val="1"/>
                <c:pt idx="0">
                  <c:v>Avg latency (ms)</c:v>
                </c:pt>
              </c:strCache>
            </c:strRef>
          </c:tx>
          <c:spPr>
            <a:solidFill>
              <a:srgbClr val="2F6F52"/>
            </a:solidFill>
            <a:ln w="31750" cap="flat">
              <a:solidFill>
                <a:srgbClr val="2F6F5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F6F52"/>
              </a:solidFill>
              <a:ln w="9525" cap="flat">
                <a:solidFill>
                  <a:srgbClr val="2F6F52"/>
                </a:solidFill>
                <a:prstDash val="solid"/>
                <a:round/>
              </a:ln>
              <a:effectLst/>
            </c:spPr>
          </c:marker>
          <c:cat>
            <c:multiLvlStrRef>
              <c:f>Sheet1!$A$2:$A$4</c:f>
              <c:multiLvlStrCache>
                <c:ptCount val="3"/>
                <c:lvl>
                  <c:pt idx="0">
                    <c:v>1 thread</c:v>
                  </c:pt>
                  <c:pt idx="1">
                    <c:v>2 threads</c:v>
                  </c:pt>
                  <c:pt idx="2">
                    <c:v>4 threads</c:v>
                  </c:pt>
                </c:lvl>
              </c:multiLvlStrCache>
            </c:multiLvlStrRef>
          </c:cat>
          <c:val>
            <c:numRef>
              <c:f>Sheet1!$B$2:$B$4</c:f>
              <c:numCache>
                <c:formatCode>General</c:formatCode>
                <c:ptCount val="3"/>
                <c:pt idx="0">
                  <c:v>357.1</c:v>
                </c:pt>
                <c:pt idx="1">
                  <c:v>323.3</c:v>
                </c:pt>
                <c:pt idx="2">
                  <c:v>289.5</c:v>
                </c:pt>
              </c:numCache>
            </c:numRef>
          </c:val>
          <c:smooth val="0"/>
        </c:ser>
        <c:ser>
          <c:idx val="1"/>
          <c:order val="1"/>
          <c:tx>
            <c:strRef>
              <c:f>Sheet1!$C$1</c:f>
              <c:strCache>
                <c:ptCount val="1"/>
                <c:pt idx="0">
                  <c:v>p95 latency (ms)</c:v>
                </c:pt>
              </c:strCache>
            </c:strRef>
          </c:tx>
          <c:spPr>
            <a:solidFill>
              <a:srgbClr val="C97A2B"/>
            </a:solidFill>
            <a:ln w="31750" cap="flat">
              <a:solidFill>
                <a:srgbClr val="C97A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97A2B"/>
              </a:solidFill>
              <a:ln w="9525" cap="flat">
                <a:solidFill>
                  <a:srgbClr val="C97A2B"/>
                </a:solidFill>
                <a:prstDash val="solid"/>
                <a:round/>
              </a:ln>
              <a:effectLst/>
            </c:spPr>
          </c:marker>
          <c:cat>
            <c:multiLvlStrRef>
              <c:f>Sheet1!$A$2:$A$4</c:f>
              <c:multiLvlStrCache>
                <c:ptCount val="3"/>
                <c:lvl>
                  <c:pt idx="0">
                    <c:v>1 thread</c:v>
                  </c:pt>
                  <c:pt idx="1">
                    <c:v>2 threads</c:v>
                  </c:pt>
                  <c:pt idx="2">
                    <c:v>4 threads</c:v>
                  </c:pt>
                </c:lvl>
              </c:multiLvlStrCache>
            </c:multiLvlStrRef>
          </c:cat>
          <c:val>
            <c:numRef>
              <c:f>Sheet1!$C$2:$C$4</c:f>
              <c:numCache>
                <c:formatCode>General</c:formatCode>
                <c:ptCount val="3"/>
                <c:pt idx="0">
                  <c:v>454.7</c:v>
                </c:pt>
                <c:pt idx="1">
                  <c:v>488.2</c:v>
                </c:pt>
                <c:pt idx="2">
                  <c:v>370.3</c:v>
                </c:pt>
              </c:numCache>
            </c:numRef>
          </c:val>
          <c:smooth val="0"/>
        </c:ser>
        <c:ser>
          <c:idx val="2"/>
          <c:order val="2"/>
          <c:tx>
            <c:strRef>
              <c:f>Sheet1!$D$1</c:f>
              <c:strCache>
                <c:ptCount val="1"/>
                <c:pt idx="0">
                  <c:v>SLA (500ms)</c:v>
                </c:pt>
              </c:strCache>
            </c:strRef>
          </c:tx>
          <c:spPr>
            <a:solidFill>
              <a:srgbClr val="B91C1C"/>
            </a:solidFill>
            <a:ln w="31750" cap="flat">
              <a:solidFill>
                <a:srgbClr val="B91C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91C1C"/>
              </a:solidFill>
              <a:ln w="9525" cap="flat">
                <a:solidFill>
                  <a:srgbClr val="B91C1C"/>
                </a:solidFill>
                <a:prstDash val="solid"/>
                <a:round/>
              </a:ln>
              <a:effectLst/>
            </c:spPr>
          </c:marker>
          <c:cat>
            <c:multiLvlStrRef>
              <c:f>Sheet1!$A$2:$A$4</c:f>
              <c:multiLvlStrCache>
                <c:ptCount val="3"/>
                <c:lvl>
                  <c:pt idx="0">
                    <c:v>1 thread</c:v>
                  </c:pt>
                  <c:pt idx="1">
                    <c:v>2 threads</c:v>
                  </c:pt>
                  <c:pt idx="2">
                    <c:v>4 threads</c:v>
                  </c:pt>
                </c:lvl>
              </c:multiLvlStrCache>
            </c:multiLvlStrRef>
          </c:cat>
          <c:val>
            <c:numRef>
              <c:f>Sheet1!$D$2:$D$4</c:f>
              <c:numCache>
                <c:formatCode>General</c:formatCode>
                <c:ptCount val="3"/>
                <c:pt idx="0">
                  <c:v>500</c:v>
                </c:pt>
                <c:pt idx="1">
                  <c:v>500</c:v>
                </c:pt>
                <c:pt idx="2">
                  <c:v>500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A5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DEA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A5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A52"/>
              </a:solidFil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302A"/>
                </a:solidFill>
                <a:latin typeface="Calibri"/>
              </a:defRPr>
            </a:pPr>
            <a:r>
              <a:rPr sz="1300" b="0" i="0" u="none" strike="noStrike">
                <a:solidFill>
                  <a:srgbClr val="16302A"/>
                </a:solidFill>
                <a:latin typeface="Calibri"/>
              </a:rPr>
              <a:t>Total search-strategy energy cost</a:t>
            </a:r>
          </a:p>
        </c:rich>
      </c:tx>
      <c:layout/>
      <c:overlay val="0"/>
    </c:title>
    <c:autoTitleDeleted val="0"/>
    <c:plotArea>
      <c:layout/>
      <c:barChart>
        <c:barDir val="col"/>
        <c:grouping val="clustered"/>
        <c:varyColors val="0"/>
        <c:ser>
          <c:idx val="0"/>
          <c:order val="0"/>
          <c:tx>
            <c:strRef>
              <c:f>Sheet1!$B$1</c:f>
              <c:strCache>
                <c:ptCount val="1"/>
                <c:pt idx="0">
                  <c:v>Emissions (mg CO2e)</c:v>
                </c:pt>
              </c:strCache>
            </c:strRef>
          </c:tx>
          <c:spPr>
            <a:solidFill>
              <a:srgbClr val="B91C1C"/>
            </a:solidFill>
            <a:effectLst/>
          </c:spPr>
          <c:invertIfNegative val="0"/>
          <c:dLbls>
            <c:numFmt formatCode="0.0" sourceLinked="0"/>
            <c:txPr>
              <a:bodyPr/>
              <a:lstStyle/>
              <a:p>
                <a:pPr>
                  <a:defRPr b="0" i="0" strike="noStrike" sz="1200" u="none">
                    <a:solidFill>
                      <a:srgbClr val="16302A"/>
                    </a:solidFill>
                    <a:latin typeface="Arial"/>
                  </a:defRPr>
                </a:pPr>
              </a:p>
            </c:txPr>
            <c:showLegendKey val="0"/>
            <c:showVal val="1"/>
            <c:showCatName val="0"/>
            <c:showSerName val="0"/>
            <c:showPercent val="0"/>
            <c:showBubbleSize val="0"/>
            <c:showLeaderLines val="0"/>
          </c:dLbls>
          <c:cat>
            <c:multiLvlStrRef>
              <c:f>Sheet1!$A$2:$A$3</c:f>
              <c:multiLvlStrCache>
                <c:ptCount val="2"/>
                <c:lvl>
                  <c:pt idx="0">
                    <c:v>Grid search</c:v>
                  </c:pt>
                  <c:pt idx="1">
                    <c:v>Early stopping</c:v>
                  </c:pt>
                </c:lvl>
              </c:multiLvlStrCache>
            </c:multiLvlStrRef>
          </c:cat>
          <c:val>
            <c:numRef>
              <c:f>Sheet1!$B$2:$B$3</c:f>
              <c:numCache>
                <c:formatCode>General</c:formatCode>
                <c:ptCount val="2"/>
                <c:pt idx="0">
                  <c:v>10.85</c:v>
                </c:pt>
                <c:pt idx="1">
                  <c:v>8.3</c:v>
                </c:pt>
              </c:numCache>
            </c:numRef>
          </c:val>
        </c:ser>
        <c:dLbls>
          <c:numFmt formatCode="0.0" sourceLinked="0"/>
          <c:txPr>
            <a:bodyPr/>
            <a:lstStyle/>
            <a:p>
              <a:pPr>
                <a:defRPr b="0" i="0" strike="noStrike" sz="1200" u="none">
                  <a:solidFill>
                    <a:srgbClr val="16302A"/>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A5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DEA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A5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302A"/>
                </a:solidFill>
                <a:latin typeface="Calibri"/>
              </a:defRPr>
            </a:pPr>
            <a:r>
              <a:rPr sz="1300" b="0" i="0" u="none" strike="noStrike">
                <a:solidFill>
                  <a:srgbClr val="16302A"/>
                </a:solidFill>
                <a:latin typeface="Calibri"/>
              </a:rPr>
              <a:t>Best / final validation loss (lower is better)</a:t>
            </a:r>
          </a:p>
        </c:rich>
      </c:tx>
      <c:layout/>
      <c:overlay val="0"/>
    </c:title>
    <c:autoTitleDeleted val="0"/>
    <c:plotArea>
      <c:layout/>
      <c:barChart>
        <c:barDir val="col"/>
        <c:grouping val="clustered"/>
        <c:varyColors val="0"/>
        <c:ser>
          <c:idx val="0"/>
          <c:order val="0"/>
          <c:tx>
            <c:strRef>
              <c:f>Sheet1!$B$1</c:f>
              <c:strCache>
                <c:ptCount val="1"/>
                <c:pt idx="0">
                  <c:v>Eval loss</c:v>
                </c:pt>
              </c:strCache>
            </c:strRef>
          </c:tx>
          <c:spPr>
            <a:solidFill>
              <a:srgbClr val="2F6F52"/>
            </a:solidFill>
            <a:effectLst/>
          </c:spPr>
          <c:invertIfNegative val="0"/>
          <c:dLbls>
            <c:numFmt formatCode="0.000" sourceLinked="0"/>
            <c:txPr>
              <a:bodyPr/>
              <a:lstStyle/>
              <a:p>
                <a:pPr>
                  <a:defRPr b="0" i="0" strike="noStrike" sz="1200" u="none">
                    <a:solidFill>
                      <a:srgbClr val="16302A"/>
                    </a:solidFill>
                    <a:latin typeface="Arial"/>
                  </a:defRPr>
                </a:pPr>
              </a:p>
            </c:txPr>
            <c:showLegendKey val="0"/>
            <c:showVal val="1"/>
            <c:showCatName val="0"/>
            <c:showSerName val="0"/>
            <c:showPercent val="0"/>
            <c:showBubbleSize val="0"/>
            <c:showLeaderLines val="0"/>
          </c:dLbls>
          <c:cat>
            <c:multiLvlStrRef>
              <c:f>Sheet1!$A$2:$A$3</c:f>
              <c:multiLvlStrCache>
                <c:ptCount val="2"/>
                <c:lvl>
                  <c:pt idx="0">
                    <c:v>Grid search (best)</c:v>
                  </c:pt>
                  <c:pt idx="1">
                    <c:v>Early stopping</c:v>
                  </c:pt>
                </c:lvl>
              </c:multiLvlStrCache>
            </c:multiLvlStrRef>
          </c:cat>
          <c:val>
            <c:numRef>
              <c:f>Sheet1!$B$2:$B$3</c:f>
              <c:numCache>
                <c:formatCode>General</c:formatCode>
                <c:ptCount val="2"/>
                <c:pt idx="0">
                  <c:v>0.68</c:v>
                </c:pt>
                <c:pt idx="1">
                  <c:v>0.514</c:v>
                </c:pt>
              </c:numCache>
            </c:numRef>
          </c:val>
        </c:ser>
        <c:dLbls>
          <c:numFmt formatCode="0.000" sourceLinked="0"/>
          <c:txPr>
            <a:bodyPr/>
            <a:lstStyle/>
            <a:p>
              <a:pPr>
                <a:defRPr b="0" i="0" strike="noStrike" sz="1200" u="none">
                  <a:solidFill>
                    <a:srgbClr val="16302A"/>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A5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DEA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A5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good afternoon. My name is Nandan Muruli, and today I'll be presenting my case study report titled "Green MLOps: A Framework for Energy-Efficient Machine Learning Operations Pipelines," supervised by Prof. Dr. Kamellia Reshadi. Over the next few minutes I'll walk through the motivation for this work, the three research questions I investigated, how I built and evaluated the pipeline, what I found, and what it means going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for the presentation. I'll start with why this problem matters and what gap in MLOps I'm addressing, then walk through my three research questions. After that I'll briefly touch on the related work that shaped my design, then go through how I actually built the pipeline -- the tools and the code. Then I'll present the results for each research question with the actual charts, followed by a discussion that ties the findings together, an honest look at the limitations, and finally my conclusions and ideas for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this matter? Deep learning models keep getting more compute-hungry, and that has a real carbon cost -- data centers training and serving these models consume a lot of energy. But if you look at how MLOps pipelines are built today, they're heavily optimized for accuracy, latency, and throughput. Energy consumption is almost always an afterthought -- measured, if at all, as a one-off benchmark rather than something the pipeline tracks automatically for every run. That's the gap I'm addressing: I designed, implemented, and evaluated a Green MLOps pipeline that treats energy efficiency as a first-class citizen right alongside model accuracy. To make this concrete rather than theoretical, I used a real workload throughout: a DistilBERT model fine-tuned for sentiment classification on the IMDb movie review dataset. Every measurement in this report comes from actually running that pipeline, not from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framed the whole study around three research questions. RQ1 is really about observability: can you add power-consumption tracking to an existing training pipeline without rewriting the training code itself -- that is, non-intrusively? RQ2 is about model compression: if you quantize or prune a model, how much energy and latency do you save, and what accuracy do you give up for it -- what's the actual trade-off? And RQ3 is about the operational side: can you use scheduling choices and execution-level resource limits, like capping CPU threads, to reduce emissions, while still meeting a latency service-level agreement that a real deployment would need to respect? These three questions map onto three different layers of an ML system: the tracking layer, the model layer, and the execution/scheduling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design didn't come out of nowhere -- it builds on three overlapping bodies of literature. First, work on measuring and reporting ML energy costs: Strubell and colleagues were among the first to draw attention to the carbon cost of training large NLP models, Henderson et al. argued that energy figures are only comparable if you disclose your measurement methodology, and Lacoste et al.'s mlco2 calculator is actually the direct ancestor of CodeCarbon, the tool I use throughout this project. Second, the broader Green AI research agenda -- Schwartz and colleagues coined the term "Green AI" itself, arguing efficiency should be a first-class evaluation criterion, and Patterson et al. and Desislavov et al. showed that engineering and operational choices, not just model architecture, can shift emissions by a lot. Third, model compression work -- Han et al.'s Deep Compression paper and Jacob et al.'s quantization work directly inform my RQ2 experiments. The closest prior work to mine is Sánchez-Mompó et al.'s 2025 paper on Green MLOps to Green GenOps. What I do differently is depth of integration: rather than benchmarking models as standalone scripts, I embed the same kind of telemetry inside an actual versioned, CI-tested MLOps pipeline, so every single energy number is tied to a specific, reproducible pipeline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the pipeline is an empirical, fully-functional system -- I built and ran the real thing, not a simulation. Four tools do the heavy lifting: DVC versions the data and declares the pipeline stages, MLflow tracks every experiment run -- parameters, metrics, and tags -- CodeCarbon estimates the energy and emissions telemetry, and Docker plus GitHub Actions containerize the pipeline and run it in CI. For the workload itself, I fine-tuned a DistilBERT model for binary sentiment classification on a subset of the IMDb dataset -- 500 training examples and 100 evaluation examples, two epochs. That's deliberately small in scale, which let me keep every single pipeline stage reproducible within my project time budget, while still giving me a realistic transformer fine-tuning workload to measure against, rather than a toy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I want to be upfront about: my original proposal specified Scaphandre, which reads power directly from Intel's RAPL interface, plus true GPU power-capping for RQ3. The hardware I actually had access to -- Apple Silicon for development, and a CPU-only Linux environment for running the experiments -- has neither an Intel RAPL interface nor an NVIDIA GPU. So neither tool was applicable. This is a hardware constraint, not a design choice I made for convenience, and I've documented it explicitly rather than leaving it implicit. In practice that meant three substitutions: CodeCarbon for energy telemetry instead of Scaphandre, a CPU-thread-count cap as a software-controllable proxy for GPU power-capping, and MLflow's built-in UI combined with a static HTML dashboard instead of a full Grafana-on-Kubernetes deployment. I'll flag where this matters again later, especially in the limitations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how the pipeline is actually put together. It's declared as a DVC stage graph with five stages: ingest, train_baseline, compress, rq3_experiments, and dashboard, each feeding into the next. The important design point here is that each stage declares its own dependencies and outputs explicitly, so when I run "dvc repro," it only re-runs a stage -- and everything downstream of it -- if one of its declared dependencies actually changed. For example, the train_baseline stage lists configs/config.yaml as a dependency, so if I change just one hyperparameter, like the number of training epochs, that automatically invalidates and re-triggers training, compression, and the RQ3 benchmarks, without me having to remember which stages are affected. And speaking of that config file -- every parameter in this pipeline, dataset sizes, model name, hyperparameters, the SLA threshold, thread caps, the grid-search space, all of it lives in one single configs/config.yaml file rather than being scattered and hardcoded across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asked how you integrate power tracking non-intrusively, and here's the answer I implemented: a small Python context manager called GreenTracker that wraps CodeCarbon's EmissionsTracker. To use it, you just wrap your existing training or evaluation call in a single "with GreenTracker(...)" statement -- that's the entire integration point. No changes to the training loop, no changes to the model code, no changes to how you already call MLflow. Internally, when the context manager exits, it stops the tracker, gets the emissions figure back in kilograms of CO2 equivalent, and if there's an active MLflow run, it logs that number as a metric automatically. So the carbon footprint ends up sitting right next to your loss and accuracy metrics in the same MLflow run, without you doing anything extra. I think this is important because non-intrusive integration is only credible if the integration code is small enough to actually audit -- which is why I'm showing you the real code here rather than just describing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implementation pieces worth calling out. First, RQ2 and RQ3a both need to compare several model variants on strictly comparable terms, so instead of each writing its own inference loop, they both call one shared routine, evaluate_model(). That matters because if they used slightly different batching or timing code, an observed latency difference might just reflect a difference in measurement code, not a real difference between the models being compared. Second, on the CI/CD side: a Dockerfile containerizes the whole pipeline, so "docker run" executes the full dvc repro sequence by default, or a single stage if you override the command. And a GitHub Actions workflow lints the code and runs a fast smoke-test suite on every push or pull request, checking things like configuration integrity and that the telemetry wrapper constructs correctly -- rather than running a full training job on every commit, which would be too slow and resource-intensive. Full pipeline reproduction is meant to be triggered manually or on a schedule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RQ2, I compressed the fine-tuned baseline model two ways: INT8 dynamic quantization of all linear layers, and 30% L1-unstructured magnitude pruning, then evaluated baseline, quantized, and pruned variants on the same 300-example held-out test split. Quantization was the clear winner -- a 53.5% reduction in average inference latency and a 48.2% reduction in on-disk weight size, for a cost of 6.3 percentage points of accuracy. Pruning, on the other hand, produced no latency or size benefit at all, while still costing 5.7 percentage points of accuracy -- so it's strictly dominated by quantization in this setting. That's not a knock against pruning as a technique in general -- it's because unstructured pruning just zeroes individual weights without changing the dense matrix representation, so no actual computation is saved unless your runtime has a sparse-compute-aware backend, which mine doesn't. The headline takeaway: a compression technique's benefit is a property of the technique plus the runtime it's paired with, not the technique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RQ3a is about execution-level resource capping as a proxy for the GPU power-capping I couldn't do on this hardware. I evaluated the baseline model under three CPU thread caps -- 1, 2, and 4 threads -- against a defined SLA of 500 milliseconds per inference batch. The good news: no configuration violated the SLA. Measured emissions were lowest at the single-thread cap, about 0.129 milligrams, versus 0.206 milligrams at four threads -- a 37.4% reduction -- which is consistent with the core hypothesis that constraining execution resources trades latency headroom for lower energy draw. But here's the catch: the single-thread cap consumed 90.9% of the latency budget at the 95th percentile, versus only 74.1% at four threads. So while you're technically still within the SLA, your safety margin gets a lot thinner as you push the cap harder. I'd read this as: this lever works, but it has a fairly narrow safe operating range in a latency-sensitive deployment -- it's not a free reduction.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RQ3b compares two training schedules: a brute-force grid search over 2 learning rates times 2 batch sizes -- four runs, one epoch each -- versus a single early-stopped run with patience 1, up to four epochs. The early-stopped run used 23.5% less total energy than the grid search, while reaching a substantially better validation loss -- 0.514 versus the grid search's best of 0.680. That's a genuinely favorable result for adaptive scheduling. But I want to be precise about what's actually being compared here: the grid search spent its budget exploring breadth -- four configurations, one epoch each -- while early stopping spent a comparable budget exploring depth -- one configuration, up to four epochs. So this supports data-driven, adaptive schedules over exhaustive shallow search in this setting, but it doesn't by itself prove early stopping would win against a grid search given an equally deep budget per configuration. I flag that honestly in my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my three research questions tell a single practical story. Energy is easy to make visible, RQ1's finding, once you treat telemetry as just another metric to log automatically rather than something you measure with a bespoke script per experiment. It's cheap to reduce substantially at the compression layer, RQ2's finding, provided the accuracy cost is one you can tolerate and your runtime can actually exploit the compression technique -- which is exactly why quantization worked and pruning didn't in my setup. And it's reducible at the execution layer, RQ3's finding, but mainly by trading away latency headroom rather than through any kind of free lunch -- you see that clearly in how the SLA margin shrinks as you push the thread cap harder. If I had to state the single recurring theme across all three questions, it's this: the green gains I measured are real, but every one of them is conditional -- conditional on runtime support for RQ2, conditional on how much latency margin a deployment can actually spare for RQ3a, and conditional on which dimension of a search space you vary for RQ3b. I think that conditionality is itself the honest finding, and it's consistent with the broader Green AI literature's argument that efficiency claims deserve the same scrutiny as accuracy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upfront about six limitations rather than let them surface as questions later. First, the hardware constraint I already mentioned -- no RAPL interface, no GPU -- forced the Scaphandre and power-capping substitutions. Second, scale: I deliberately kept the fine-tuning workload small, 500 training and 100 evaluation examples, to keep every pipeline stage reproducible within my time budget. That means absolute accuracy numbers shouldn't be read as representative of DistilBERT's real ceiling on IMDb, but the relative comparisons between variants remain valid. Third, measurement noise -- CodeCarbon samples power once a second, and several of my evaluation runs complete in under five seconds, so background or idle power draw can dominate the reading for those short runs; latency and model-size numbers don't have this problem and are the more reliable signal. Fourth, the pruning result is specific to my dense-storage runtime, not a general statement that pruning doesn't help. Fifth, the RQ3b comparison conflates search breadth with search depth rather than holding a fixed per-configuration budget constant. And finally, most of my results reflect a single run per configuration rather than repeated trials with reported variance, again due to time constraints. I think naming these clearly is part of doing this kind of empirical work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RQ1 is answered affirmatively -- wrapping existing code in a single reusable context manager, GreenTracker, integrates power-consumption tracking without touching the model or training-loop code, and unifies carbon-footprint metrics with standard ML metrics in the same MLflow run. RQ2 shows INT8 dynamic quantization as the clear win in this study -- substantial latency and size reductions for a modest accuracy cost -- while 30% unstructured pruning offered no efficiency benefit under my dense-storage implementation, despite actually costing more accuracy. RQ3 shows that execution-level resource capping can reduce measured energy draw without breaching a defined latency SLA, though safety margins shrink meaningfully at the most aggressive cap, and that an adaptive, early-stopped training schedule reached a better model with less total energy than brute-force grid search. For future work, contingent on getting access to the right hardware, I'd want to: re-run the RQ3 capping benchmark with Scaphandre on bare-metal Intel hardware and true GPU power-capping to validate my CPU-thread-cap proxy against the originally specified mechanism; scale the fine-tuning workload up to the full IMDb training set to see if the RQ2 trade-offs hold; evaluate structured pruning or knowledge distillation, which can realize actual compute savings unlike unstructured pruning; and repeat each benchmark across multiple seeds to report variance alongside point estimates. Thank you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That covers my case study on building a Green MLOps pipeline -- from the motivation and research questions, through the implementation, to the results across all three research questions, and an honest look at the limitations. I'm happy to answer any questions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2A"/>
        </a:solidFill>
      </p:bgPr>
    </p:bg>
    <p:spTree>
      <p:nvGrpSpPr>
        <p:cNvPr id="1" name=""/>
        <p:cNvGrpSpPr/>
        <p:nvPr/>
      </p:nvGrpSpPr>
      <p:grpSpPr>
        <a:xfrm>
          <a:off x="0" y="0"/>
          <a:ext cx="0" cy="0"/>
          <a:chOff x="0" y="0"/>
          <a:chExt cx="0" cy="0"/>
        </a:xfrm>
      </p:grpSpPr>
      <p:sp>
        <p:nvSpPr>
          <p:cNvPr id="2" name="Text 0"/>
          <p:cNvSpPr txBox="1"/>
          <p:nvPr/>
        </p:nvSpPr>
        <p:spPr>
          <a:xfrm>
            <a:off x="640080" y="1371600"/>
            <a:ext cx="10911535" cy="365760"/>
          </a:xfrm>
          <a:prstGeom prst="rect">
            <a:avLst/>
          </a:prstGeom>
          <a:noFill/>
          <a:ln/>
        </p:spPr>
        <p:txBody>
          <a:bodyPr wrap="square" lIns="0" tIns="0" rIns="0" bIns="0" rtlCol="0" anchor="ctr"/>
          <a:lstStyle/>
          <a:p>
            <a:pPr indent="0" marL="0">
              <a:buNone/>
            </a:pPr>
            <a:r>
              <a:rPr lang="en-US" sz="1500" b="1" spc="300" kern="0" dirty="0">
                <a:solidFill>
                  <a:srgbClr val="8FBF9F"/>
                </a:solidFill>
                <a:latin typeface="Calibri" pitchFamily="34" charset="0"/>
                <a:ea typeface="Calibri" pitchFamily="34" charset="-122"/>
                <a:cs typeface="Calibri" pitchFamily="34" charset="-120"/>
              </a:rPr>
              <a:t>CASE STUDY DEFENSE</a:t>
            </a:r>
            <a:endParaRPr lang="en-US" sz="1500" dirty="0"/>
          </a:p>
        </p:txBody>
      </p:sp>
      <p:sp>
        <p:nvSpPr>
          <p:cNvPr id="3" name="Text 1"/>
          <p:cNvSpPr txBox="1"/>
          <p:nvPr/>
        </p:nvSpPr>
        <p:spPr>
          <a:xfrm>
            <a:off x="640080" y="1783080"/>
            <a:ext cx="10911535"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Green MLOps</a:t>
            </a:r>
            <a:endParaRPr lang="en-US" sz="6000" dirty="0"/>
          </a:p>
        </p:txBody>
      </p:sp>
      <p:sp>
        <p:nvSpPr>
          <p:cNvPr id="4" name="Text 2"/>
          <p:cNvSpPr txBox="1"/>
          <p:nvPr/>
        </p:nvSpPr>
        <p:spPr>
          <a:xfrm>
            <a:off x="640080" y="2880360"/>
            <a:ext cx="9601200" cy="822960"/>
          </a:xfrm>
          <a:prstGeom prst="rect">
            <a:avLst/>
          </a:prstGeom>
          <a:noFill/>
          <a:ln/>
        </p:spPr>
        <p:txBody>
          <a:bodyPr wrap="square" lIns="0" tIns="0" rIns="0" bIns="0" rtlCol="0" anchor="ctr"/>
          <a:lstStyle/>
          <a:p>
            <a:pPr indent="0" marL="0">
              <a:buNone/>
            </a:pPr>
            <a:r>
              <a:rPr lang="en-US" sz="2200" dirty="0">
                <a:solidFill>
                  <a:srgbClr val="C9D6CD"/>
                </a:solidFill>
                <a:latin typeface="Calibri" pitchFamily="34" charset="0"/>
                <a:ea typeface="Calibri" pitchFamily="34" charset="-122"/>
                <a:cs typeface="Calibri" pitchFamily="34" charset="-120"/>
              </a:rPr>
              <a:t>A Framework for Energy-Efficient Machine Learning Operations Pipelines</a:t>
            </a:r>
            <a:endParaRPr lang="en-US" sz="2200" dirty="0"/>
          </a:p>
        </p:txBody>
      </p:sp>
      <p:sp>
        <p:nvSpPr>
          <p:cNvPr id="5" name="Shape 3"/>
          <p:cNvSpPr/>
          <p:nvPr/>
        </p:nvSpPr>
        <p:spPr>
          <a:xfrm>
            <a:off x="640080" y="4160520"/>
            <a:ext cx="2926080" cy="0"/>
          </a:xfrm>
          <a:prstGeom prst="line">
            <a:avLst/>
          </a:prstGeom>
          <a:noFill/>
          <a:ln w="19050">
            <a:solidFill>
              <a:srgbClr val="2F6F52"/>
            </a:solidFill>
            <a:prstDash val="solid"/>
          </a:ln>
        </p:spPr>
      </p:sp>
      <p:sp>
        <p:nvSpPr>
          <p:cNvPr id="6" name="Text 4"/>
          <p:cNvSpPr txBox="1"/>
          <p:nvPr/>
        </p:nvSpPr>
        <p:spPr>
          <a:xfrm>
            <a:off x="640080" y="4343400"/>
            <a:ext cx="10911535"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Nandan Muruli </a:t>
            </a:r>
            <a:pPr indent="0" marL="0">
              <a:buNone/>
            </a:pPr>
            <a:r>
              <a:rPr lang="en-US" sz="1800" dirty="0">
                <a:solidFill>
                  <a:srgbClr val="8FBF9F"/>
                </a:solidFill>
                <a:latin typeface="Calibri" pitchFamily="34" charset="0"/>
                <a:ea typeface="Calibri" pitchFamily="34" charset="-122"/>
                <a:cs typeface="Calibri" pitchFamily="34" charset="-120"/>
              </a:rPr>
              <a:t>(ID: 100004359)</a:t>
            </a:r>
            <a:endParaRPr lang="en-US" sz="1800" dirty="0"/>
          </a:p>
        </p:txBody>
      </p:sp>
      <p:sp>
        <p:nvSpPr>
          <p:cNvPr id="7" name="Text 5"/>
          <p:cNvSpPr txBox="1"/>
          <p:nvPr/>
        </p:nvSpPr>
        <p:spPr>
          <a:xfrm>
            <a:off x="640080" y="4709160"/>
            <a:ext cx="10911535" cy="320040"/>
          </a:xfrm>
          <a:prstGeom prst="rect">
            <a:avLst/>
          </a:prstGeom>
          <a:noFill/>
          <a:ln/>
        </p:spPr>
        <p:txBody>
          <a:bodyPr wrap="square" lIns="0" tIns="0" rIns="0" bIns="0" rtlCol="0" anchor="ctr"/>
          <a:lstStyle/>
          <a:p>
            <a:pPr indent="0" marL="0">
              <a:buNone/>
            </a:pPr>
            <a:r>
              <a:rPr lang="en-US" sz="1500" dirty="0">
                <a:solidFill>
                  <a:srgbClr val="C9D6CD"/>
                </a:solidFill>
                <a:latin typeface="Calibri" pitchFamily="34" charset="0"/>
                <a:ea typeface="Calibri" pitchFamily="34" charset="-122"/>
                <a:cs typeface="Calibri" pitchFamily="34" charset="-120"/>
              </a:rPr>
              <a:t>Master's in Applied Computer Science  ·  SRH University Heidelberg</a:t>
            </a:r>
            <a:endParaRPr lang="en-US" sz="1500" dirty="0"/>
          </a:p>
        </p:txBody>
      </p:sp>
      <p:sp>
        <p:nvSpPr>
          <p:cNvPr id="8" name="Text 6"/>
          <p:cNvSpPr txBox="1"/>
          <p:nvPr/>
        </p:nvSpPr>
        <p:spPr>
          <a:xfrm>
            <a:off x="640080" y="5029200"/>
            <a:ext cx="10911535" cy="320040"/>
          </a:xfrm>
          <a:prstGeom prst="rect">
            <a:avLst/>
          </a:prstGeom>
          <a:noFill/>
          <a:ln/>
        </p:spPr>
        <p:txBody>
          <a:bodyPr wrap="square" lIns="0" tIns="0" rIns="0" bIns="0" rtlCol="0" anchor="ctr"/>
          <a:lstStyle/>
          <a:p>
            <a:pPr indent="0" marL="0">
              <a:buNone/>
            </a:pPr>
            <a:r>
              <a:rPr lang="en-US" sz="1500" dirty="0">
                <a:solidFill>
                  <a:srgbClr val="C9D6CD"/>
                </a:solidFill>
                <a:latin typeface="Calibri" pitchFamily="34" charset="0"/>
                <a:ea typeface="Calibri" pitchFamily="34" charset="-122"/>
                <a:cs typeface="Calibri" pitchFamily="34" charset="-120"/>
              </a:rPr>
              <a:t>Supervisor: Prof. Dr. Kamellia Reshadi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2F6F52"/>
                </a:solidFill>
                <a:latin typeface="Calibri" pitchFamily="34" charset="0"/>
                <a:ea typeface="Calibri" pitchFamily="34" charset="-122"/>
                <a:cs typeface="Calibri" pitchFamily="34" charset="-120"/>
              </a:rPr>
              <a:t>AGENDA</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3200" b="1" dirty="0">
                <a:solidFill>
                  <a:srgbClr val="16302A"/>
                </a:solidFill>
                <a:latin typeface="Cambria" pitchFamily="34" charset="0"/>
                <a:ea typeface="Cambria" pitchFamily="34" charset="-122"/>
                <a:cs typeface="Cambria" pitchFamily="34" charset="-120"/>
              </a:rPr>
              <a:t>What I'll cover</a:t>
            </a:r>
            <a:endParaRPr lang="en-US" sz="3200" dirty="0"/>
          </a:p>
        </p:txBody>
      </p:sp>
      <p:sp>
        <p:nvSpPr>
          <p:cNvPr id="4" name="Shape 2"/>
          <p:cNvSpPr/>
          <p:nvPr/>
        </p:nvSpPr>
        <p:spPr>
          <a:xfrm>
            <a:off x="640080" y="2148840"/>
            <a:ext cx="5318608" cy="960120"/>
          </a:xfrm>
          <a:prstGeom prst="roundRect">
            <a:avLst>
              <a:gd name="adj" fmla="val 8571"/>
            </a:avLst>
          </a:prstGeom>
          <a:solidFill>
            <a:srgbClr val="EDF3EE"/>
          </a:solidFill>
          <a:ln/>
          <a:effectLst>
            <a:outerShdw sx="100000" sy="100000" kx="0" ky="0" algn="bl" rotWithShape="0" blurRad="76200" dist="25400" dir="5400000">
              <a:srgbClr val="000000">
                <a:alpha val="12000"/>
              </a:srgbClr>
            </a:outerShdw>
          </a:effectLst>
        </p:spPr>
      </p:sp>
      <p:sp>
        <p:nvSpPr>
          <p:cNvPr id="5" name="Text 3"/>
          <p:cNvSpPr txBox="1"/>
          <p:nvPr/>
        </p:nvSpPr>
        <p:spPr>
          <a:xfrm>
            <a:off x="868680" y="2148840"/>
            <a:ext cx="914400" cy="960120"/>
          </a:xfrm>
          <a:prstGeom prst="rect">
            <a:avLst/>
          </a:prstGeom>
          <a:noFill/>
          <a:ln/>
        </p:spPr>
        <p:txBody>
          <a:bodyPr wrap="square" lIns="0" tIns="0" rIns="0" bIns="0" rtlCol="0" anchor="ctr"/>
          <a:lstStyle/>
          <a:p>
            <a:pPr indent="0" marL="0">
              <a:buNone/>
            </a:pPr>
            <a:r>
              <a:rPr lang="en-US" sz="3000" b="1" dirty="0">
                <a:solidFill>
                  <a:srgbClr val="2F6F52"/>
                </a:solidFill>
                <a:latin typeface="Cambria" pitchFamily="34" charset="0"/>
                <a:ea typeface="Cambria" pitchFamily="34" charset="-122"/>
                <a:cs typeface="Cambria" pitchFamily="34" charset="-120"/>
              </a:rPr>
              <a:t>01</a:t>
            </a:r>
            <a:endParaRPr lang="en-US" sz="3000" dirty="0"/>
          </a:p>
        </p:txBody>
      </p:sp>
      <p:sp>
        <p:nvSpPr>
          <p:cNvPr id="6" name="Text 4"/>
          <p:cNvSpPr txBox="1"/>
          <p:nvPr/>
        </p:nvSpPr>
        <p:spPr>
          <a:xfrm>
            <a:off x="1783080" y="2148840"/>
            <a:ext cx="3947008" cy="960120"/>
          </a:xfrm>
          <a:prstGeom prst="rect">
            <a:avLst/>
          </a:prstGeom>
          <a:noFill/>
          <a:ln/>
        </p:spPr>
        <p:txBody>
          <a:bodyPr wrap="square" lIns="0" tIns="0" rIns="0" bIns="0" rtlCol="0" anchor="ctr"/>
          <a:lstStyle/>
          <a:p>
            <a:pPr indent="0" marL="0">
              <a:buNone/>
            </a:pPr>
            <a:r>
              <a:rPr lang="en-US" sz="1600" dirty="0">
                <a:solidFill>
                  <a:srgbClr val="16302A"/>
                </a:solidFill>
                <a:latin typeface="Calibri" pitchFamily="34" charset="0"/>
                <a:ea typeface="Calibri" pitchFamily="34" charset="-122"/>
                <a:cs typeface="Calibri" pitchFamily="34" charset="-120"/>
              </a:rPr>
              <a:t>Motivation &amp; the problem MLOps ignores</a:t>
            </a:r>
            <a:endParaRPr lang="en-US" sz="1600" dirty="0"/>
          </a:p>
        </p:txBody>
      </p:sp>
      <p:sp>
        <p:nvSpPr>
          <p:cNvPr id="7" name="Shape 5"/>
          <p:cNvSpPr/>
          <p:nvPr/>
        </p:nvSpPr>
        <p:spPr>
          <a:xfrm>
            <a:off x="6233008" y="2148840"/>
            <a:ext cx="5318608" cy="960120"/>
          </a:xfrm>
          <a:prstGeom prst="roundRect">
            <a:avLst>
              <a:gd name="adj" fmla="val 8571"/>
            </a:avLst>
          </a:prstGeom>
          <a:solidFill>
            <a:srgbClr val="EDF3EE"/>
          </a:solidFill>
          <a:ln/>
          <a:effectLst>
            <a:outerShdw sx="100000" sy="100000" kx="0" ky="0" algn="bl" rotWithShape="0" blurRad="76200" dist="25400" dir="5400000">
              <a:srgbClr val="000000">
                <a:alpha val="12000"/>
              </a:srgbClr>
            </a:outerShdw>
          </a:effectLst>
        </p:spPr>
      </p:sp>
      <p:sp>
        <p:nvSpPr>
          <p:cNvPr id="8" name="Text 6"/>
          <p:cNvSpPr txBox="1"/>
          <p:nvPr/>
        </p:nvSpPr>
        <p:spPr>
          <a:xfrm>
            <a:off x="6461608" y="2148840"/>
            <a:ext cx="914400" cy="960120"/>
          </a:xfrm>
          <a:prstGeom prst="rect">
            <a:avLst/>
          </a:prstGeom>
          <a:noFill/>
          <a:ln/>
        </p:spPr>
        <p:txBody>
          <a:bodyPr wrap="square" lIns="0" tIns="0" rIns="0" bIns="0" rtlCol="0" anchor="ctr"/>
          <a:lstStyle/>
          <a:p>
            <a:pPr indent="0" marL="0">
              <a:buNone/>
            </a:pPr>
            <a:r>
              <a:rPr lang="en-US" sz="3000" b="1" dirty="0">
                <a:solidFill>
                  <a:srgbClr val="2F6F52"/>
                </a:solidFill>
                <a:latin typeface="Cambria" pitchFamily="34" charset="0"/>
                <a:ea typeface="Cambria" pitchFamily="34" charset="-122"/>
                <a:cs typeface="Cambria" pitchFamily="34" charset="-120"/>
              </a:rPr>
              <a:t>02</a:t>
            </a:r>
            <a:endParaRPr lang="en-US" sz="3000" dirty="0"/>
          </a:p>
        </p:txBody>
      </p:sp>
      <p:sp>
        <p:nvSpPr>
          <p:cNvPr id="9" name="Text 7"/>
          <p:cNvSpPr txBox="1"/>
          <p:nvPr/>
        </p:nvSpPr>
        <p:spPr>
          <a:xfrm>
            <a:off x="7376008" y="2148840"/>
            <a:ext cx="3947008" cy="960120"/>
          </a:xfrm>
          <a:prstGeom prst="rect">
            <a:avLst/>
          </a:prstGeom>
          <a:noFill/>
          <a:ln/>
        </p:spPr>
        <p:txBody>
          <a:bodyPr wrap="square" lIns="0" tIns="0" rIns="0" bIns="0" rtlCol="0" anchor="ctr"/>
          <a:lstStyle/>
          <a:p>
            <a:pPr indent="0" marL="0">
              <a:buNone/>
            </a:pPr>
            <a:r>
              <a:rPr lang="en-US" sz="1600" dirty="0">
                <a:solidFill>
                  <a:srgbClr val="16302A"/>
                </a:solidFill>
                <a:latin typeface="Calibri" pitchFamily="34" charset="0"/>
                <a:ea typeface="Calibri" pitchFamily="34" charset="-122"/>
                <a:cs typeface="Calibri" pitchFamily="34" charset="-120"/>
              </a:rPr>
              <a:t>Three research questions</a:t>
            </a:r>
            <a:endParaRPr lang="en-US" sz="1600" dirty="0"/>
          </a:p>
        </p:txBody>
      </p:sp>
      <p:sp>
        <p:nvSpPr>
          <p:cNvPr id="10" name="Shape 8"/>
          <p:cNvSpPr/>
          <p:nvPr/>
        </p:nvSpPr>
        <p:spPr>
          <a:xfrm>
            <a:off x="640080" y="3383280"/>
            <a:ext cx="5318608" cy="960120"/>
          </a:xfrm>
          <a:prstGeom prst="roundRect">
            <a:avLst>
              <a:gd name="adj" fmla="val 8571"/>
            </a:avLst>
          </a:prstGeom>
          <a:solidFill>
            <a:srgbClr val="EDF3EE"/>
          </a:solidFill>
          <a:ln/>
          <a:effectLst>
            <a:outerShdw sx="100000" sy="100000" kx="0" ky="0" algn="bl" rotWithShape="0" blurRad="76200" dist="25400" dir="5400000">
              <a:srgbClr val="000000">
                <a:alpha val="12000"/>
              </a:srgbClr>
            </a:outerShdw>
          </a:effectLst>
        </p:spPr>
      </p:sp>
      <p:sp>
        <p:nvSpPr>
          <p:cNvPr id="11" name="Text 9"/>
          <p:cNvSpPr txBox="1"/>
          <p:nvPr/>
        </p:nvSpPr>
        <p:spPr>
          <a:xfrm>
            <a:off x="868680" y="3383280"/>
            <a:ext cx="914400" cy="960120"/>
          </a:xfrm>
          <a:prstGeom prst="rect">
            <a:avLst/>
          </a:prstGeom>
          <a:noFill/>
          <a:ln/>
        </p:spPr>
        <p:txBody>
          <a:bodyPr wrap="square" lIns="0" tIns="0" rIns="0" bIns="0" rtlCol="0" anchor="ctr"/>
          <a:lstStyle/>
          <a:p>
            <a:pPr indent="0" marL="0">
              <a:buNone/>
            </a:pPr>
            <a:r>
              <a:rPr lang="en-US" sz="3000" b="1" dirty="0">
                <a:solidFill>
                  <a:srgbClr val="2F6F52"/>
                </a:solidFill>
                <a:latin typeface="Cambria" pitchFamily="34" charset="0"/>
                <a:ea typeface="Cambria" pitchFamily="34" charset="-122"/>
                <a:cs typeface="Cambria" pitchFamily="34" charset="-120"/>
              </a:rPr>
              <a:t>03</a:t>
            </a:r>
            <a:endParaRPr lang="en-US" sz="3000" dirty="0"/>
          </a:p>
        </p:txBody>
      </p:sp>
      <p:sp>
        <p:nvSpPr>
          <p:cNvPr id="12" name="Text 10"/>
          <p:cNvSpPr txBox="1"/>
          <p:nvPr/>
        </p:nvSpPr>
        <p:spPr>
          <a:xfrm>
            <a:off x="1783080" y="3383280"/>
            <a:ext cx="3947008" cy="960120"/>
          </a:xfrm>
          <a:prstGeom prst="rect">
            <a:avLst/>
          </a:prstGeom>
          <a:noFill/>
          <a:ln/>
        </p:spPr>
        <p:txBody>
          <a:bodyPr wrap="square" lIns="0" tIns="0" rIns="0" bIns="0" rtlCol="0" anchor="ctr"/>
          <a:lstStyle/>
          <a:p>
            <a:pPr indent="0" marL="0">
              <a:buNone/>
            </a:pPr>
            <a:r>
              <a:rPr lang="en-US" sz="1600" dirty="0">
                <a:solidFill>
                  <a:srgbClr val="16302A"/>
                </a:solidFill>
                <a:latin typeface="Calibri" pitchFamily="34" charset="0"/>
                <a:ea typeface="Calibri" pitchFamily="34" charset="-122"/>
                <a:cs typeface="Calibri" pitchFamily="34" charset="-120"/>
              </a:rPr>
              <a:t>Related work &amp; pipeline design</a:t>
            </a:r>
            <a:endParaRPr lang="en-US" sz="1600" dirty="0"/>
          </a:p>
        </p:txBody>
      </p:sp>
      <p:sp>
        <p:nvSpPr>
          <p:cNvPr id="13" name="Shape 11"/>
          <p:cNvSpPr/>
          <p:nvPr/>
        </p:nvSpPr>
        <p:spPr>
          <a:xfrm>
            <a:off x="6233008" y="3383280"/>
            <a:ext cx="5318608" cy="960120"/>
          </a:xfrm>
          <a:prstGeom prst="roundRect">
            <a:avLst>
              <a:gd name="adj" fmla="val 8571"/>
            </a:avLst>
          </a:prstGeom>
          <a:solidFill>
            <a:srgbClr val="EDF3EE"/>
          </a:solidFill>
          <a:ln/>
          <a:effectLst>
            <a:outerShdw sx="100000" sy="100000" kx="0" ky="0" algn="bl" rotWithShape="0" blurRad="76200" dist="25400" dir="5400000">
              <a:srgbClr val="000000">
                <a:alpha val="12000"/>
              </a:srgbClr>
            </a:outerShdw>
          </a:effectLst>
        </p:spPr>
      </p:sp>
      <p:sp>
        <p:nvSpPr>
          <p:cNvPr id="14" name="Text 12"/>
          <p:cNvSpPr txBox="1"/>
          <p:nvPr/>
        </p:nvSpPr>
        <p:spPr>
          <a:xfrm>
            <a:off x="6461608" y="3383280"/>
            <a:ext cx="914400" cy="960120"/>
          </a:xfrm>
          <a:prstGeom prst="rect">
            <a:avLst/>
          </a:prstGeom>
          <a:noFill/>
          <a:ln/>
        </p:spPr>
        <p:txBody>
          <a:bodyPr wrap="square" lIns="0" tIns="0" rIns="0" bIns="0" rtlCol="0" anchor="ctr"/>
          <a:lstStyle/>
          <a:p>
            <a:pPr indent="0" marL="0">
              <a:buNone/>
            </a:pPr>
            <a:r>
              <a:rPr lang="en-US" sz="3000" b="1" dirty="0">
                <a:solidFill>
                  <a:srgbClr val="2F6F52"/>
                </a:solidFill>
                <a:latin typeface="Cambria" pitchFamily="34" charset="0"/>
                <a:ea typeface="Cambria" pitchFamily="34" charset="-122"/>
                <a:cs typeface="Cambria" pitchFamily="34" charset="-120"/>
              </a:rPr>
              <a:t>04</a:t>
            </a:r>
            <a:endParaRPr lang="en-US" sz="3000" dirty="0"/>
          </a:p>
        </p:txBody>
      </p:sp>
      <p:sp>
        <p:nvSpPr>
          <p:cNvPr id="15" name="Text 13"/>
          <p:cNvSpPr txBox="1"/>
          <p:nvPr/>
        </p:nvSpPr>
        <p:spPr>
          <a:xfrm>
            <a:off x="7376008" y="3383280"/>
            <a:ext cx="3947008" cy="960120"/>
          </a:xfrm>
          <a:prstGeom prst="rect">
            <a:avLst/>
          </a:prstGeom>
          <a:noFill/>
          <a:ln/>
        </p:spPr>
        <p:txBody>
          <a:bodyPr wrap="square" lIns="0" tIns="0" rIns="0" bIns="0" rtlCol="0" anchor="ctr"/>
          <a:lstStyle/>
          <a:p>
            <a:pPr indent="0" marL="0">
              <a:buNone/>
            </a:pPr>
            <a:r>
              <a:rPr lang="en-US" sz="1600" dirty="0">
                <a:solidFill>
                  <a:srgbClr val="16302A"/>
                </a:solidFill>
                <a:latin typeface="Calibri" pitchFamily="34" charset="0"/>
                <a:ea typeface="Calibri" pitchFamily="34" charset="-122"/>
                <a:cs typeface="Calibri" pitchFamily="34" charset="-120"/>
              </a:rPr>
              <a:t>Implementation walkthrough</a:t>
            </a:r>
            <a:endParaRPr lang="en-US" sz="1600" dirty="0"/>
          </a:p>
        </p:txBody>
      </p:sp>
      <p:sp>
        <p:nvSpPr>
          <p:cNvPr id="16" name="Shape 14"/>
          <p:cNvSpPr/>
          <p:nvPr/>
        </p:nvSpPr>
        <p:spPr>
          <a:xfrm>
            <a:off x="640080" y="4617720"/>
            <a:ext cx="5318608" cy="960120"/>
          </a:xfrm>
          <a:prstGeom prst="roundRect">
            <a:avLst>
              <a:gd name="adj" fmla="val 8571"/>
            </a:avLst>
          </a:prstGeom>
          <a:solidFill>
            <a:srgbClr val="EDF3EE"/>
          </a:solidFill>
          <a:ln/>
          <a:effectLst>
            <a:outerShdw sx="100000" sy="100000" kx="0" ky="0" algn="bl" rotWithShape="0" blurRad="76200" dist="25400" dir="5400000">
              <a:srgbClr val="000000">
                <a:alpha val="12000"/>
              </a:srgbClr>
            </a:outerShdw>
          </a:effectLst>
        </p:spPr>
      </p:sp>
      <p:sp>
        <p:nvSpPr>
          <p:cNvPr id="17" name="Text 15"/>
          <p:cNvSpPr txBox="1"/>
          <p:nvPr/>
        </p:nvSpPr>
        <p:spPr>
          <a:xfrm>
            <a:off x="868680" y="4617720"/>
            <a:ext cx="914400" cy="960120"/>
          </a:xfrm>
          <a:prstGeom prst="rect">
            <a:avLst/>
          </a:prstGeom>
          <a:noFill/>
          <a:ln/>
        </p:spPr>
        <p:txBody>
          <a:bodyPr wrap="square" lIns="0" tIns="0" rIns="0" bIns="0" rtlCol="0" anchor="ctr"/>
          <a:lstStyle/>
          <a:p>
            <a:pPr indent="0" marL="0">
              <a:buNone/>
            </a:pPr>
            <a:r>
              <a:rPr lang="en-US" sz="3000" b="1" dirty="0">
                <a:solidFill>
                  <a:srgbClr val="2F6F52"/>
                </a:solidFill>
                <a:latin typeface="Cambria" pitchFamily="34" charset="0"/>
                <a:ea typeface="Cambria" pitchFamily="34" charset="-122"/>
                <a:cs typeface="Cambria" pitchFamily="34" charset="-120"/>
              </a:rPr>
              <a:t>05</a:t>
            </a:r>
            <a:endParaRPr lang="en-US" sz="3000" dirty="0"/>
          </a:p>
        </p:txBody>
      </p:sp>
      <p:sp>
        <p:nvSpPr>
          <p:cNvPr id="18" name="Text 16"/>
          <p:cNvSpPr txBox="1"/>
          <p:nvPr/>
        </p:nvSpPr>
        <p:spPr>
          <a:xfrm>
            <a:off x="1783080" y="4617720"/>
            <a:ext cx="3947008" cy="960120"/>
          </a:xfrm>
          <a:prstGeom prst="rect">
            <a:avLst/>
          </a:prstGeom>
          <a:noFill/>
          <a:ln/>
        </p:spPr>
        <p:txBody>
          <a:bodyPr wrap="square" lIns="0" tIns="0" rIns="0" bIns="0" rtlCol="0" anchor="ctr"/>
          <a:lstStyle/>
          <a:p>
            <a:pPr indent="0" marL="0">
              <a:buNone/>
            </a:pPr>
            <a:r>
              <a:rPr lang="en-US" sz="1600" dirty="0">
                <a:solidFill>
                  <a:srgbClr val="16302A"/>
                </a:solidFill>
                <a:latin typeface="Calibri" pitchFamily="34" charset="0"/>
                <a:ea typeface="Calibri" pitchFamily="34" charset="-122"/>
                <a:cs typeface="Calibri" pitchFamily="34" charset="-120"/>
              </a:rPr>
              <a:t>Results across RQ1–RQ3</a:t>
            </a:r>
            <a:endParaRPr lang="en-US" sz="1600" dirty="0"/>
          </a:p>
        </p:txBody>
      </p:sp>
      <p:sp>
        <p:nvSpPr>
          <p:cNvPr id="19" name="Shape 17"/>
          <p:cNvSpPr/>
          <p:nvPr/>
        </p:nvSpPr>
        <p:spPr>
          <a:xfrm>
            <a:off x="6233008" y="4617720"/>
            <a:ext cx="5318608" cy="960120"/>
          </a:xfrm>
          <a:prstGeom prst="roundRect">
            <a:avLst>
              <a:gd name="adj" fmla="val 8571"/>
            </a:avLst>
          </a:prstGeom>
          <a:solidFill>
            <a:srgbClr val="EDF3EE"/>
          </a:solidFill>
          <a:ln/>
          <a:effectLst>
            <a:outerShdw sx="100000" sy="100000" kx="0" ky="0" algn="bl" rotWithShape="0" blurRad="76200" dist="25400" dir="5400000">
              <a:srgbClr val="000000">
                <a:alpha val="12000"/>
              </a:srgbClr>
            </a:outerShdw>
          </a:effectLst>
        </p:spPr>
      </p:sp>
      <p:sp>
        <p:nvSpPr>
          <p:cNvPr id="20" name="Text 18"/>
          <p:cNvSpPr txBox="1"/>
          <p:nvPr/>
        </p:nvSpPr>
        <p:spPr>
          <a:xfrm>
            <a:off x="6461608" y="4617720"/>
            <a:ext cx="914400" cy="960120"/>
          </a:xfrm>
          <a:prstGeom prst="rect">
            <a:avLst/>
          </a:prstGeom>
          <a:noFill/>
          <a:ln/>
        </p:spPr>
        <p:txBody>
          <a:bodyPr wrap="square" lIns="0" tIns="0" rIns="0" bIns="0" rtlCol="0" anchor="ctr"/>
          <a:lstStyle/>
          <a:p>
            <a:pPr indent="0" marL="0">
              <a:buNone/>
            </a:pPr>
            <a:r>
              <a:rPr lang="en-US" sz="3000" b="1" dirty="0">
                <a:solidFill>
                  <a:srgbClr val="2F6F52"/>
                </a:solidFill>
                <a:latin typeface="Cambria" pitchFamily="34" charset="0"/>
                <a:ea typeface="Cambria" pitchFamily="34" charset="-122"/>
                <a:cs typeface="Cambria" pitchFamily="34" charset="-120"/>
              </a:rPr>
              <a:t>06</a:t>
            </a:r>
            <a:endParaRPr lang="en-US" sz="3000" dirty="0"/>
          </a:p>
        </p:txBody>
      </p:sp>
      <p:sp>
        <p:nvSpPr>
          <p:cNvPr id="21" name="Text 19"/>
          <p:cNvSpPr txBox="1"/>
          <p:nvPr/>
        </p:nvSpPr>
        <p:spPr>
          <a:xfrm>
            <a:off x="7376008" y="4617720"/>
            <a:ext cx="3947008" cy="960120"/>
          </a:xfrm>
          <a:prstGeom prst="rect">
            <a:avLst/>
          </a:prstGeom>
          <a:noFill/>
          <a:ln/>
        </p:spPr>
        <p:txBody>
          <a:bodyPr wrap="square" lIns="0" tIns="0" rIns="0" bIns="0" rtlCol="0" anchor="ctr"/>
          <a:lstStyle/>
          <a:p>
            <a:pPr indent="0" marL="0">
              <a:buNone/>
            </a:pPr>
            <a:r>
              <a:rPr lang="en-US" sz="1600" dirty="0">
                <a:solidFill>
                  <a:srgbClr val="16302A"/>
                </a:solidFill>
                <a:latin typeface="Calibri" pitchFamily="34" charset="0"/>
                <a:ea typeface="Calibri" pitchFamily="34" charset="-122"/>
                <a:cs typeface="Calibri" pitchFamily="34" charset="-120"/>
              </a:rPr>
              <a:t>Discussion, limitations &amp; future work</a:t>
            </a:r>
            <a:endParaRPr lang="en-US" sz="1600" dirty="0"/>
          </a:p>
        </p:txBody>
      </p:sp>
      <p:sp>
        <p:nvSpPr>
          <p:cNvPr id="22" name="Text 20"/>
          <p:cNvSpPr txBox="1"/>
          <p:nvPr/>
        </p:nvSpPr>
        <p:spPr>
          <a:xfrm>
            <a:off x="640080" y="6355080"/>
            <a:ext cx="10362895" cy="320040"/>
          </a:xfrm>
          <a:prstGeom prst="rect">
            <a:avLst/>
          </a:prstGeom>
          <a:noFill/>
          <a:ln/>
        </p:spPr>
        <p:txBody>
          <a:bodyPr wrap="square" lIns="0" tIns="0" rIns="0" bIns="0" rtlCol="0" anchor="ctr"/>
          <a:lstStyle/>
          <a:p>
            <a:pPr indent="0" marL="0">
              <a:buNone/>
            </a:pPr>
            <a:r>
              <a:rPr lang="en-US" sz="1050" dirty="0">
                <a:solidFill>
                  <a:srgbClr val="8A9089"/>
                </a:solidFill>
                <a:latin typeface="Calibri" pitchFamily="34" charset="0"/>
                <a:ea typeface="Calibri" pitchFamily="34" charset="-122"/>
                <a:cs typeface="Calibri" pitchFamily="34" charset="-120"/>
              </a:rPr>
              <a:t>Green MLOps Case Study · Nandan Muruli</a:t>
            </a:r>
            <a:endParaRPr lang="en-US" sz="1050" dirty="0"/>
          </a:p>
        </p:txBody>
      </p:sp>
      <p:sp>
        <p:nvSpPr>
          <p:cNvPr id="23" name="Text 21"/>
          <p:cNvSpPr txBox="1"/>
          <p:nvPr/>
        </p:nvSpPr>
        <p:spPr>
          <a:xfrm>
            <a:off x="11002975" y="6355080"/>
            <a:ext cx="548640" cy="320040"/>
          </a:xfrm>
          <a:prstGeom prst="rect">
            <a:avLst/>
          </a:prstGeom>
          <a:noFill/>
          <a:ln/>
        </p:spPr>
        <p:txBody>
          <a:bodyPr wrap="square" lIns="0" tIns="0" rIns="0" bIns="0" rtlCol="0" anchor="ctr"/>
          <a:lstStyle/>
          <a:p>
            <a:pPr algn="r" indent="0" marL="0">
              <a:buNone/>
            </a:pPr>
            <a:r>
              <a:rPr lang="en-US" sz="1050" dirty="0">
                <a:solidFill>
                  <a:srgbClr val="8A9089"/>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2F6F52"/>
                </a:solidFill>
                <a:latin typeface="Calibri" pitchFamily="34" charset="0"/>
                <a:ea typeface="Calibri" pitchFamily="34" charset="-122"/>
                <a:cs typeface="Calibri" pitchFamily="34" charset="-120"/>
              </a:rPr>
              <a:t>MOTIVATION</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2800" b="1" dirty="0">
                <a:solidFill>
                  <a:srgbClr val="16302A"/>
                </a:solidFill>
                <a:latin typeface="Cambria" pitchFamily="34" charset="0"/>
                <a:ea typeface="Cambria" pitchFamily="34" charset="-122"/>
                <a:cs typeface="Cambria" pitchFamily="34" charset="-120"/>
              </a:rPr>
              <a:t>MLOps optimizes accuracy, latency, throughput — not energy</a:t>
            </a:r>
            <a:endParaRPr lang="en-US" sz="2800" dirty="0"/>
          </a:p>
        </p:txBody>
      </p:sp>
      <p:sp>
        <p:nvSpPr>
          <p:cNvPr id="4" name="Shape 2"/>
          <p:cNvSpPr/>
          <p:nvPr/>
        </p:nvSpPr>
        <p:spPr>
          <a:xfrm>
            <a:off x="640080" y="2331720"/>
            <a:ext cx="3454298" cy="2331720"/>
          </a:xfrm>
          <a:prstGeom prst="roundRect">
            <a:avLst>
              <a:gd name="adj" fmla="val 3529"/>
            </a:avLst>
          </a:prstGeom>
          <a:solidFill>
            <a:srgbClr val="EDF3EE"/>
          </a:solidFill>
          <a:ln/>
          <a:effectLst>
            <a:outerShdw sx="100000" sy="100000" kx="0" ky="0" algn="bl" rotWithShape="0" blurRad="76200" dist="25400" dir="5400000">
              <a:srgbClr val="000000">
                <a:alpha val="12000"/>
              </a:srgbClr>
            </a:outerShdw>
          </a:effectLst>
        </p:spPr>
      </p:sp>
      <p:sp>
        <p:nvSpPr>
          <p:cNvPr id="5" name="Text 3"/>
          <p:cNvSpPr txBox="1"/>
          <p:nvPr/>
        </p:nvSpPr>
        <p:spPr>
          <a:xfrm>
            <a:off x="914400" y="2560320"/>
            <a:ext cx="2905658" cy="457200"/>
          </a:xfrm>
          <a:prstGeom prst="rect">
            <a:avLst/>
          </a:prstGeom>
          <a:noFill/>
          <a:ln/>
        </p:spPr>
        <p:txBody>
          <a:bodyPr wrap="square" lIns="0" tIns="0" rIns="0" bIns="0" rtlCol="0" anchor="ctr"/>
          <a:lstStyle/>
          <a:p>
            <a:pPr indent="0" marL="0">
              <a:buNone/>
            </a:pPr>
            <a:r>
              <a:rPr lang="en-US" sz="1900" b="1" dirty="0">
                <a:solidFill>
                  <a:srgbClr val="2F6F52"/>
                </a:solidFill>
                <a:latin typeface="Cambria" pitchFamily="34" charset="0"/>
                <a:ea typeface="Cambria" pitchFamily="34" charset="-122"/>
                <a:cs typeface="Cambria" pitchFamily="34" charset="-120"/>
              </a:rPr>
              <a:t>The trend</a:t>
            </a:r>
            <a:endParaRPr lang="en-US" sz="1900" dirty="0"/>
          </a:p>
        </p:txBody>
      </p:sp>
      <p:sp>
        <p:nvSpPr>
          <p:cNvPr id="6" name="Text 4"/>
          <p:cNvSpPr txBox="1"/>
          <p:nvPr/>
        </p:nvSpPr>
        <p:spPr>
          <a:xfrm>
            <a:off x="914400" y="3108960"/>
            <a:ext cx="2905658" cy="13258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Deep learning's compute demand keeps growing, and with it the carbon footprint of the data centers that train and serve models.</a:t>
            </a:r>
            <a:endParaRPr lang="en-US" sz="1500" dirty="0"/>
          </a:p>
        </p:txBody>
      </p:sp>
      <p:sp>
        <p:nvSpPr>
          <p:cNvPr id="7" name="Shape 5"/>
          <p:cNvSpPr/>
          <p:nvPr/>
        </p:nvSpPr>
        <p:spPr>
          <a:xfrm>
            <a:off x="4368698" y="2331720"/>
            <a:ext cx="3454298" cy="2331720"/>
          </a:xfrm>
          <a:prstGeom prst="roundRect">
            <a:avLst>
              <a:gd name="adj" fmla="val 3529"/>
            </a:avLst>
          </a:prstGeom>
          <a:solidFill>
            <a:srgbClr val="EDF3EE"/>
          </a:solidFill>
          <a:ln/>
          <a:effectLst>
            <a:outerShdw sx="100000" sy="100000" kx="0" ky="0" algn="bl" rotWithShape="0" blurRad="76200" dist="25400" dir="5400000">
              <a:srgbClr val="000000">
                <a:alpha val="12000"/>
              </a:srgbClr>
            </a:outerShdw>
          </a:effectLst>
        </p:spPr>
      </p:sp>
      <p:sp>
        <p:nvSpPr>
          <p:cNvPr id="8" name="Text 6"/>
          <p:cNvSpPr txBox="1"/>
          <p:nvPr/>
        </p:nvSpPr>
        <p:spPr>
          <a:xfrm>
            <a:off x="4643018" y="2560320"/>
            <a:ext cx="2905658" cy="457200"/>
          </a:xfrm>
          <a:prstGeom prst="rect">
            <a:avLst/>
          </a:prstGeom>
          <a:noFill/>
          <a:ln/>
        </p:spPr>
        <p:txBody>
          <a:bodyPr wrap="square" lIns="0" tIns="0" rIns="0" bIns="0" rtlCol="0" anchor="ctr"/>
          <a:lstStyle/>
          <a:p>
            <a:pPr indent="0" marL="0">
              <a:buNone/>
            </a:pPr>
            <a:r>
              <a:rPr lang="en-US" sz="1900" b="1" dirty="0">
                <a:solidFill>
                  <a:srgbClr val="2F6F52"/>
                </a:solidFill>
                <a:latin typeface="Cambria" pitchFamily="34" charset="0"/>
                <a:ea typeface="Cambria" pitchFamily="34" charset="-122"/>
                <a:cs typeface="Cambria" pitchFamily="34" charset="-120"/>
              </a:rPr>
              <a:t>The gap</a:t>
            </a:r>
            <a:endParaRPr lang="en-US" sz="1900" dirty="0"/>
          </a:p>
        </p:txBody>
      </p:sp>
      <p:sp>
        <p:nvSpPr>
          <p:cNvPr id="9" name="Text 7"/>
          <p:cNvSpPr txBox="1"/>
          <p:nvPr/>
        </p:nvSpPr>
        <p:spPr>
          <a:xfrm>
            <a:off x="4643018" y="3108960"/>
            <a:ext cx="2905658" cy="1325880"/>
          </a:xfrm>
          <a:prstGeom prst="rect">
            <a:avLst/>
          </a:prstGeom>
          <a:noFill/>
          <a:ln/>
        </p:spPr>
        <p:txBody>
          <a:bodyPr wrap="square" lIns="0" tIns="0" rIns="0" bIns="0" rtlCol="0" anchor="t"/>
          <a:lstStyle/>
          <a:p>
            <a:pPr indent="0" marL="0">
              <a:buNone/>
            </a:pPr>
            <a:r>
              <a:rPr lang="en-US" sz="1500" dirty="0">
                <a:solidFill>
                  <a:srgbClr val="16302A"/>
                </a:solidFill>
                <a:latin typeface="Calibri" pitchFamily="34" charset="0"/>
                <a:ea typeface="Calibri" pitchFamily="34" charset="-122"/>
                <a:cs typeface="Calibri" pitchFamily="34" charset="-120"/>
              </a:rPr>
              <a:t>No standard way to track energy consumption inside automated, CI/CD-driven ML pipelines — it's usually a one-off benchmark, not a pipeline metric.</a:t>
            </a:r>
            <a:endParaRPr lang="en-US" sz="1500" dirty="0"/>
          </a:p>
        </p:txBody>
      </p:sp>
      <p:sp>
        <p:nvSpPr>
          <p:cNvPr id="10" name="Shape 8"/>
          <p:cNvSpPr/>
          <p:nvPr/>
        </p:nvSpPr>
        <p:spPr>
          <a:xfrm>
            <a:off x="8097317" y="2331720"/>
            <a:ext cx="3454298" cy="2331720"/>
          </a:xfrm>
          <a:prstGeom prst="roundRect">
            <a:avLst>
              <a:gd name="adj" fmla="val 3529"/>
            </a:avLst>
          </a:prstGeom>
          <a:solidFill>
            <a:srgbClr val="2F6F52"/>
          </a:solidFill>
          <a:ln/>
          <a:effectLst>
            <a:outerShdw sx="100000" sy="100000" kx="0" ky="0" algn="bl" rotWithShape="0" blurRad="76200" dist="25400" dir="5400000">
              <a:srgbClr val="000000">
                <a:alpha val="12000"/>
              </a:srgbClr>
            </a:outerShdw>
          </a:effectLst>
        </p:spPr>
      </p:sp>
      <p:sp>
        <p:nvSpPr>
          <p:cNvPr id="11" name="Text 9"/>
          <p:cNvSpPr txBox="1"/>
          <p:nvPr/>
        </p:nvSpPr>
        <p:spPr>
          <a:xfrm>
            <a:off x="8371637" y="2560320"/>
            <a:ext cx="2905658"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This project</a:t>
            </a:r>
            <a:endParaRPr lang="en-US" sz="1900" dirty="0"/>
          </a:p>
        </p:txBody>
      </p:sp>
      <p:sp>
        <p:nvSpPr>
          <p:cNvPr id="12" name="Text 10"/>
          <p:cNvSpPr txBox="1"/>
          <p:nvPr/>
        </p:nvSpPr>
        <p:spPr>
          <a:xfrm>
            <a:off x="8371637" y="3108960"/>
            <a:ext cx="2905658" cy="13258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Builds a Green MLOps pipeline that treats energy as a first-class metric, alongside accuracy — logged automatically, run by run.</a:t>
            </a:r>
            <a:endParaRPr lang="en-US" sz="1500" dirty="0"/>
          </a:p>
        </p:txBody>
      </p:sp>
      <p:sp>
        <p:nvSpPr>
          <p:cNvPr id="13" name="Text 11"/>
          <p:cNvSpPr txBox="1"/>
          <p:nvPr/>
        </p:nvSpPr>
        <p:spPr>
          <a:xfrm>
            <a:off x="640080" y="6355080"/>
            <a:ext cx="10911535" cy="320040"/>
          </a:xfrm>
          <a:prstGeom prst="rect">
            <a:avLst/>
          </a:prstGeom>
          <a:noFill/>
          <a:ln/>
        </p:spPr>
        <p:txBody>
          <a:bodyPr wrap="square" lIns="0" tIns="0" rIns="0" bIns="0" rtlCol="0" anchor="ctr"/>
          <a:lstStyle/>
          <a:p>
            <a:pPr indent="0" marL="0">
              <a:buNone/>
            </a:pPr>
            <a:r>
              <a:rPr lang="en-US" sz="1250" i="1" dirty="0">
                <a:solidFill>
                  <a:srgbClr val="8A9089"/>
                </a:solidFill>
                <a:latin typeface="Calibri" pitchFamily="34" charset="0"/>
                <a:ea typeface="Calibri" pitchFamily="34" charset="-122"/>
                <a:cs typeface="Calibri" pitchFamily="34" charset="-120"/>
              </a:rPr>
              <a:t>Case study workload: DistilBERT sentiment classifier fine-tuned on the IMDb movie-review dataset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302A"/>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10058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Three research questions</a:t>
            </a:r>
            <a:endParaRPr lang="en-US" sz="3600" dirty="0"/>
          </a:p>
        </p:txBody>
      </p:sp>
      <p:sp>
        <p:nvSpPr>
          <p:cNvPr id="3" name="Shape 1"/>
          <p:cNvSpPr/>
          <p:nvPr/>
        </p:nvSpPr>
        <p:spPr>
          <a:xfrm>
            <a:off x="640080" y="1965960"/>
            <a:ext cx="10911535" cy="1371600"/>
          </a:xfrm>
          <a:prstGeom prst="roundRect">
            <a:avLst>
              <a:gd name="adj" fmla="val 6000"/>
            </a:avLst>
          </a:prstGeom>
          <a:solidFill>
            <a:srgbClr val="1E4438"/>
          </a:solidFill>
          <a:ln/>
          <a:effectLst>
            <a:outerShdw sx="100000" sy="100000" kx="0" ky="0" algn="bl" rotWithShape="0" blurRad="76200" dist="25400" dir="5400000">
              <a:srgbClr val="000000">
                <a:alpha val="12000"/>
              </a:srgbClr>
            </a:outerShdw>
          </a:effectLst>
        </p:spPr>
      </p:sp>
      <p:sp>
        <p:nvSpPr>
          <p:cNvPr id="4" name="Text 2"/>
          <p:cNvSpPr txBox="1"/>
          <p:nvPr/>
        </p:nvSpPr>
        <p:spPr>
          <a:xfrm>
            <a:off x="1005840" y="1965960"/>
            <a:ext cx="1463040" cy="1371600"/>
          </a:xfrm>
          <a:prstGeom prst="rect">
            <a:avLst/>
          </a:prstGeom>
          <a:noFill/>
          <a:ln/>
        </p:spPr>
        <p:txBody>
          <a:bodyPr wrap="square" lIns="0" tIns="0" rIns="0" bIns="0" rtlCol="0" anchor="ctr"/>
          <a:lstStyle/>
          <a:p>
            <a:pPr indent="0" marL="0">
              <a:buNone/>
            </a:pPr>
            <a:r>
              <a:rPr lang="en-US" sz="4000" b="1" dirty="0">
                <a:solidFill>
                  <a:srgbClr val="8FBF9F"/>
                </a:solidFill>
                <a:latin typeface="Cambria" pitchFamily="34" charset="0"/>
                <a:ea typeface="Cambria" pitchFamily="34" charset="-122"/>
                <a:cs typeface="Cambria" pitchFamily="34" charset="-120"/>
              </a:rPr>
              <a:t>RQ1</a:t>
            </a:r>
            <a:endParaRPr lang="en-US" sz="4000" dirty="0"/>
          </a:p>
        </p:txBody>
      </p:sp>
      <p:sp>
        <p:nvSpPr>
          <p:cNvPr id="5" name="Text 3"/>
          <p:cNvSpPr txBox="1"/>
          <p:nvPr/>
        </p:nvSpPr>
        <p:spPr>
          <a:xfrm>
            <a:off x="2651760" y="1965960"/>
            <a:ext cx="8534095" cy="13716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How can power-consumption tracking be integrated non-intrusively into automated ML training and deployment loops?</a:t>
            </a:r>
            <a:endParaRPr lang="en-US" sz="1800" dirty="0"/>
          </a:p>
        </p:txBody>
      </p:sp>
      <p:sp>
        <p:nvSpPr>
          <p:cNvPr id="6" name="Shape 4"/>
          <p:cNvSpPr/>
          <p:nvPr/>
        </p:nvSpPr>
        <p:spPr>
          <a:xfrm>
            <a:off x="640080" y="3566160"/>
            <a:ext cx="10911535" cy="1371600"/>
          </a:xfrm>
          <a:prstGeom prst="roundRect">
            <a:avLst>
              <a:gd name="adj" fmla="val 6000"/>
            </a:avLst>
          </a:prstGeom>
          <a:solidFill>
            <a:srgbClr val="1E4438"/>
          </a:solidFill>
          <a:ln/>
          <a:effectLst>
            <a:outerShdw sx="100000" sy="100000" kx="0" ky="0" algn="bl" rotWithShape="0" blurRad="76200" dist="25400" dir="5400000">
              <a:srgbClr val="000000">
                <a:alpha val="12000"/>
              </a:srgbClr>
            </a:outerShdw>
          </a:effectLst>
        </p:spPr>
      </p:sp>
      <p:sp>
        <p:nvSpPr>
          <p:cNvPr id="7" name="Text 5"/>
          <p:cNvSpPr txBox="1"/>
          <p:nvPr/>
        </p:nvSpPr>
        <p:spPr>
          <a:xfrm>
            <a:off x="1005840" y="3566160"/>
            <a:ext cx="1463040" cy="1371600"/>
          </a:xfrm>
          <a:prstGeom prst="rect">
            <a:avLst/>
          </a:prstGeom>
          <a:noFill/>
          <a:ln/>
        </p:spPr>
        <p:txBody>
          <a:bodyPr wrap="square" lIns="0" tIns="0" rIns="0" bIns="0" rtlCol="0" anchor="ctr"/>
          <a:lstStyle/>
          <a:p>
            <a:pPr indent="0" marL="0">
              <a:buNone/>
            </a:pPr>
            <a:r>
              <a:rPr lang="en-US" sz="4000" b="1" dirty="0">
                <a:solidFill>
                  <a:srgbClr val="8FBF9F"/>
                </a:solidFill>
                <a:latin typeface="Cambria" pitchFamily="34" charset="0"/>
                <a:ea typeface="Cambria" pitchFamily="34" charset="-122"/>
                <a:cs typeface="Cambria" pitchFamily="34" charset="-120"/>
              </a:rPr>
              <a:t>RQ2</a:t>
            </a:r>
            <a:endParaRPr lang="en-US" sz="4000" dirty="0"/>
          </a:p>
        </p:txBody>
      </p:sp>
      <p:sp>
        <p:nvSpPr>
          <p:cNvPr id="8" name="Text 6"/>
          <p:cNvSpPr txBox="1"/>
          <p:nvPr/>
        </p:nvSpPr>
        <p:spPr>
          <a:xfrm>
            <a:off x="2651760" y="3566160"/>
            <a:ext cx="8534095" cy="13716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What is the quantitative trade-off between model performance and energy consumption under compression?</a:t>
            </a:r>
            <a:endParaRPr lang="en-US" sz="1800" dirty="0"/>
          </a:p>
        </p:txBody>
      </p:sp>
      <p:sp>
        <p:nvSpPr>
          <p:cNvPr id="9" name="Shape 7"/>
          <p:cNvSpPr/>
          <p:nvPr/>
        </p:nvSpPr>
        <p:spPr>
          <a:xfrm>
            <a:off x="640080" y="5166360"/>
            <a:ext cx="10911535" cy="1371600"/>
          </a:xfrm>
          <a:prstGeom prst="roundRect">
            <a:avLst>
              <a:gd name="adj" fmla="val 6000"/>
            </a:avLst>
          </a:prstGeom>
          <a:solidFill>
            <a:srgbClr val="1E4438"/>
          </a:solidFill>
          <a:ln/>
          <a:effectLst>
            <a:outerShdw sx="100000" sy="100000" kx="0" ky="0" algn="bl" rotWithShape="0" blurRad="76200" dist="25400" dir="5400000">
              <a:srgbClr val="000000">
                <a:alpha val="12000"/>
              </a:srgbClr>
            </a:outerShdw>
          </a:effectLst>
        </p:spPr>
      </p:sp>
      <p:sp>
        <p:nvSpPr>
          <p:cNvPr id="10" name="Text 8"/>
          <p:cNvSpPr txBox="1"/>
          <p:nvPr/>
        </p:nvSpPr>
        <p:spPr>
          <a:xfrm>
            <a:off x="1005840" y="5166360"/>
            <a:ext cx="1463040" cy="1371600"/>
          </a:xfrm>
          <a:prstGeom prst="rect">
            <a:avLst/>
          </a:prstGeom>
          <a:noFill/>
          <a:ln/>
        </p:spPr>
        <p:txBody>
          <a:bodyPr wrap="square" lIns="0" tIns="0" rIns="0" bIns="0" rtlCol="0" anchor="ctr"/>
          <a:lstStyle/>
          <a:p>
            <a:pPr indent="0" marL="0">
              <a:buNone/>
            </a:pPr>
            <a:r>
              <a:rPr lang="en-US" sz="4000" b="1" dirty="0">
                <a:solidFill>
                  <a:srgbClr val="8FBF9F"/>
                </a:solidFill>
                <a:latin typeface="Cambria" pitchFamily="34" charset="0"/>
                <a:ea typeface="Cambria" pitchFamily="34" charset="-122"/>
                <a:cs typeface="Cambria" pitchFamily="34" charset="-120"/>
              </a:rPr>
              <a:t>RQ3</a:t>
            </a:r>
            <a:endParaRPr lang="en-US" sz="4000" dirty="0"/>
          </a:p>
        </p:txBody>
      </p:sp>
      <p:sp>
        <p:nvSpPr>
          <p:cNvPr id="11" name="Text 9"/>
          <p:cNvSpPr txBox="1"/>
          <p:nvPr/>
        </p:nvSpPr>
        <p:spPr>
          <a:xfrm>
            <a:off x="2651760" y="5166360"/>
            <a:ext cx="8534095" cy="13716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Can data-driven scheduling and execution-level resource capping cut emissions without breaking a latency SLA?</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2F6F52"/>
                </a:solidFill>
                <a:latin typeface="Calibri" pitchFamily="34" charset="0"/>
                <a:ea typeface="Calibri" pitchFamily="34" charset="-122"/>
                <a:cs typeface="Calibri" pitchFamily="34" charset="-120"/>
              </a:rPr>
              <a:t>RELATED WORK</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2700" b="1" dirty="0">
                <a:solidFill>
                  <a:srgbClr val="16302A"/>
                </a:solidFill>
                <a:latin typeface="Cambria" pitchFamily="34" charset="0"/>
                <a:ea typeface="Cambria" pitchFamily="34" charset="-122"/>
                <a:cs typeface="Cambria" pitchFamily="34" charset="-120"/>
              </a:rPr>
              <a:t>Three bodies of work shape this pipeline's design</a:t>
            </a:r>
            <a:endParaRPr lang="en-US" sz="2700" dirty="0"/>
          </a:p>
        </p:txBody>
      </p:sp>
      <p:sp>
        <p:nvSpPr>
          <p:cNvPr id="4" name="Shape 2"/>
          <p:cNvSpPr/>
          <p:nvPr/>
        </p:nvSpPr>
        <p:spPr>
          <a:xfrm>
            <a:off x="640080" y="2194560"/>
            <a:ext cx="3466490" cy="1920240"/>
          </a:xfrm>
          <a:prstGeom prst="roundRect">
            <a:avLst>
              <a:gd name="adj" fmla="val 4286"/>
            </a:avLst>
          </a:prstGeom>
          <a:solidFill>
            <a:srgbClr val="EDF3EE"/>
          </a:solidFill>
          <a:ln/>
          <a:effectLst>
            <a:outerShdw sx="100000" sy="100000" kx="0" ky="0" algn="bl" rotWithShape="0" blurRad="76200" dist="25400" dir="5400000">
              <a:srgbClr val="000000">
                <a:alpha val="12000"/>
              </a:srgbClr>
            </a:outerShdw>
          </a:effectLst>
        </p:spPr>
      </p:sp>
      <p:sp>
        <p:nvSpPr>
          <p:cNvPr id="5" name="Text 3"/>
          <p:cNvSpPr txBox="1"/>
          <p:nvPr/>
        </p:nvSpPr>
        <p:spPr>
          <a:xfrm>
            <a:off x="868680" y="2377440"/>
            <a:ext cx="3009290" cy="457200"/>
          </a:xfrm>
          <a:prstGeom prst="rect">
            <a:avLst/>
          </a:prstGeom>
          <a:noFill/>
          <a:ln/>
        </p:spPr>
        <p:txBody>
          <a:bodyPr wrap="square" lIns="0" tIns="0" rIns="0" bIns="0" rtlCol="0" anchor="ctr"/>
          <a:lstStyle/>
          <a:p>
            <a:pPr indent="0" marL="0">
              <a:buNone/>
            </a:pPr>
            <a:r>
              <a:rPr lang="en-US" sz="1600" b="1" dirty="0">
                <a:solidFill>
                  <a:srgbClr val="2F6F52"/>
                </a:solidFill>
                <a:latin typeface="Cambria" pitchFamily="34" charset="0"/>
                <a:ea typeface="Cambria" pitchFamily="34" charset="-122"/>
                <a:cs typeface="Cambria" pitchFamily="34" charset="-120"/>
              </a:rPr>
              <a:t>Measuring energy costs</a:t>
            </a:r>
            <a:endParaRPr lang="en-US" sz="1600" dirty="0"/>
          </a:p>
        </p:txBody>
      </p:sp>
      <p:sp>
        <p:nvSpPr>
          <p:cNvPr id="6" name="Text 4"/>
          <p:cNvSpPr txBox="1"/>
          <p:nvPr/>
        </p:nvSpPr>
        <p:spPr>
          <a:xfrm>
            <a:off x="868680" y="2880360"/>
            <a:ext cx="3009290" cy="1005840"/>
          </a:xfrm>
          <a:prstGeom prst="rect">
            <a:avLst/>
          </a:prstGeom>
          <a:noFill/>
          <a:ln/>
        </p:spPr>
        <p:txBody>
          <a:bodyPr wrap="square" lIns="0" tIns="0" rIns="0" bIns="0" rtlCol="0" anchor="t"/>
          <a:lstStyle/>
          <a:p>
            <a:pPr indent="0" marL="0">
              <a:buNone/>
            </a:pPr>
            <a:r>
              <a:rPr lang="en-US" sz="1250" dirty="0">
                <a:solidFill>
                  <a:srgbClr val="4A5A52"/>
                </a:solidFill>
                <a:latin typeface="Calibri" pitchFamily="34" charset="0"/>
                <a:ea typeface="Calibri" pitchFamily="34" charset="-122"/>
                <a:cs typeface="Calibri" pitchFamily="34" charset="-120"/>
              </a:rPr>
              <a:t>Strubell et al. (2019); Henderson et al. (2020); Lacoste et al. (2019, mlco2 → CodeCarbon's lineage); Anthony et al. (2020, Carbontracker)</a:t>
            </a:r>
            <a:endParaRPr lang="en-US" sz="1250" dirty="0"/>
          </a:p>
        </p:txBody>
      </p:sp>
      <p:sp>
        <p:nvSpPr>
          <p:cNvPr id="7" name="Shape 5"/>
          <p:cNvSpPr/>
          <p:nvPr/>
        </p:nvSpPr>
        <p:spPr>
          <a:xfrm>
            <a:off x="4362602" y="2194560"/>
            <a:ext cx="3466490" cy="1920240"/>
          </a:xfrm>
          <a:prstGeom prst="roundRect">
            <a:avLst>
              <a:gd name="adj" fmla="val 4286"/>
            </a:avLst>
          </a:prstGeom>
          <a:solidFill>
            <a:srgbClr val="EDF3EE"/>
          </a:solidFill>
          <a:ln/>
          <a:effectLst>
            <a:outerShdw sx="100000" sy="100000" kx="0" ky="0" algn="bl" rotWithShape="0" blurRad="76200" dist="25400" dir="5400000">
              <a:srgbClr val="000000">
                <a:alpha val="12000"/>
              </a:srgbClr>
            </a:outerShdw>
          </a:effectLst>
        </p:spPr>
      </p:sp>
      <p:sp>
        <p:nvSpPr>
          <p:cNvPr id="8" name="Text 6"/>
          <p:cNvSpPr txBox="1"/>
          <p:nvPr/>
        </p:nvSpPr>
        <p:spPr>
          <a:xfrm>
            <a:off x="4591202" y="2377440"/>
            <a:ext cx="3009290" cy="457200"/>
          </a:xfrm>
          <a:prstGeom prst="rect">
            <a:avLst/>
          </a:prstGeom>
          <a:noFill/>
          <a:ln/>
        </p:spPr>
        <p:txBody>
          <a:bodyPr wrap="square" lIns="0" tIns="0" rIns="0" bIns="0" rtlCol="0" anchor="ctr"/>
          <a:lstStyle/>
          <a:p>
            <a:pPr indent="0" marL="0">
              <a:buNone/>
            </a:pPr>
            <a:r>
              <a:rPr lang="en-US" sz="1600" b="1" dirty="0">
                <a:solidFill>
                  <a:srgbClr val="2F6F52"/>
                </a:solidFill>
                <a:latin typeface="Cambria" pitchFamily="34" charset="0"/>
                <a:ea typeface="Cambria" pitchFamily="34" charset="-122"/>
                <a:cs typeface="Cambria" pitchFamily="34" charset="-120"/>
              </a:rPr>
              <a:t>Green AI at scale</a:t>
            </a:r>
            <a:endParaRPr lang="en-US" sz="1600" dirty="0"/>
          </a:p>
        </p:txBody>
      </p:sp>
      <p:sp>
        <p:nvSpPr>
          <p:cNvPr id="9" name="Text 7"/>
          <p:cNvSpPr txBox="1"/>
          <p:nvPr/>
        </p:nvSpPr>
        <p:spPr>
          <a:xfrm>
            <a:off x="4591202" y="2880360"/>
            <a:ext cx="3009290" cy="1005840"/>
          </a:xfrm>
          <a:prstGeom prst="rect">
            <a:avLst/>
          </a:prstGeom>
          <a:noFill/>
          <a:ln/>
        </p:spPr>
        <p:txBody>
          <a:bodyPr wrap="square" lIns="0" tIns="0" rIns="0" bIns="0" rtlCol="0" anchor="t"/>
          <a:lstStyle/>
          <a:p>
            <a:pPr indent="0" marL="0">
              <a:buNone/>
            </a:pPr>
            <a:r>
              <a:rPr lang="en-US" sz="1250" dirty="0">
                <a:solidFill>
                  <a:srgbClr val="4A5A52"/>
                </a:solidFill>
                <a:latin typeface="Calibri" pitchFamily="34" charset="0"/>
                <a:ea typeface="Calibri" pitchFamily="34" charset="-122"/>
                <a:cs typeface="Calibri" pitchFamily="34" charset="-120"/>
              </a:rPr>
              <a:t>Schwartz et al. (2020, coined “Green AI”); Patterson et al. (2021); Desislavov et al. (2023); Verdecchia et al. (2023, systematic review)</a:t>
            </a:r>
            <a:endParaRPr lang="en-US" sz="1250" dirty="0"/>
          </a:p>
        </p:txBody>
      </p:sp>
      <p:sp>
        <p:nvSpPr>
          <p:cNvPr id="10" name="Shape 8"/>
          <p:cNvSpPr/>
          <p:nvPr/>
        </p:nvSpPr>
        <p:spPr>
          <a:xfrm>
            <a:off x="8085125" y="2194560"/>
            <a:ext cx="3466490" cy="1920240"/>
          </a:xfrm>
          <a:prstGeom prst="roundRect">
            <a:avLst>
              <a:gd name="adj" fmla="val 4286"/>
            </a:avLst>
          </a:prstGeom>
          <a:solidFill>
            <a:srgbClr val="EDF3EE"/>
          </a:solidFill>
          <a:ln/>
          <a:effectLst>
            <a:outerShdw sx="100000" sy="100000" kx="0" ky="0" algn="bl" rotWithShape="0" blurRad="76200" dist="25400" dir="5400000">
              <a:srgbClr val="000000">
                <a:alpha val="12000"/>
              </a:srgbClr>
            </a:outerShdw>
          </a:effectLst>
        </p:spPr>
      </p:sp>
      <p:sp>
        <p:nvSpPr>
          <p:cNvPr id="11" name="Text 9"/>
          <p:cNvSpPr txBox="1"/>
          <p:nvPr/>
        </p:nvSpPr>
        <p:spPr>
          <a:xfrm>
            <a:off x="8313725" y="2377440"/>
            <a:ext cx="3009290" cy="457200"/>
          </a:xfrm>
          <a:prstGeom prst="rect">
            <a:avLst/>
          </a:prstGeom>
          <a:noFill/>
          <a:ln/>
        </p:spPr>
        <p:txBody>
          <a:bodyPr wrap="square" lIns="0" tIns="0" rIns="0" bIns="0" rtlCol="0" anchor="ctr"/>
          <a:lstStyle/>
          <a:p>
            <a:pPr indent="0" marL="0">
              <a:buNone/>
            </a:pPr>
            <a:r>
              <a:rPr lang="en-US" sz="1600" b="1" dirty="0">
                <a:solidFill>
                  <a:srgbClr val="2F6F52"/>
                </a:solidFill>
                <a:latin typeface="Cambria" pitchFamily="34" charset="0"/>
                <a:ea typeface="Cambria" pitchFamily="34" charset="-122"/>
                <a:cs typeface="Cambria" pitchFamily="34" charset="-120"/>
              </a:rPr>
              <a:t>Model compression</a:t>
            </a:r>
            <a:endParaRPr lang="en-US" sz="1600" dirty="0"/>
          </a:p>
        </p:txBody>
      </p:sp>
      <p:sp>
        <p:nvSpPr>
          <p:cNvPr id="12" name="Text 10"/>
          <p:cNvSpPr txBox="1"/>
          <p:nvPr/>
        </p:nvSpPr>
        <p:spPr>
          <a:xfrm>
            <a:off x="8313725" y="2880360"/>
            <a:ext cx="3009290" cy="1005840"/>
          </a:xfrm>
          <a:prstGeom prst="rect">
            <a:avLst/>
          </a:prstGeom>
          <a:noFill/>
          <a:ln/>
        </p:spPr>
        <p:txBody>
          <a:bodyPr wrap="square" lIns="0" tIns="0" rIns="0" bIns="0" rtlCol="0" anchor="t"/>
          <a:lstStyle/>
          <a:p>
            <a:pPr indent="0" marL="0">
              <a:buNone/>
            </a:pPr>
            <a:r>
              <a:rPr lang="en-US" sz="1250" dirty="0">
                <a:solidFill>
                  <a:srgbClr val="4A5A52"/>
                </a:solidFill>
                <a:latin typeface="Calibri" pitchFamily="34" charset="0"/>
                <a:ea typeface="Calibri" pitchFamily="34" charset="-122"/>
                <a:cs typeface="Calibri" pitchFamily="34" charset="-120"/>
              </a:rPr>
              <a:t>Han et al. (2016, Deep Compression); Jacob et al. (2018, integer-only quantized inference)</a:t>
            </a:r>
            <a:endParaRPr lang="en-US" sz="1250" dirty="0"/>
          </a:p>
        </p:txBody>
      </p:sp>
      <p:sp>
        <p:nvSpPr>
          <p:cNvPr id="13" name="Shape 11"/>
          <p:cNvSpPr/>
          <p:nvPr/>
        </p:nvSpPr>
        <p:spPr>
          <a:xfrm>
            <a:off x="640080" y="4370832"/>
            <a:ext cx="10911535" cy="1188720"/>
          </a:xfrm>
          <a:prstGeom prst="roundRect">
            <a:avLst>
              <a:gd name="adj" fmla="val 6923"/>
            </a:avLst>
          </a:prstGeom>
          <a:solidFill>
            <a:srgbClr val="1E4438"/>
          </a:solidFill>
          <a:ln/>
          <a:effectLst>
            <a:outerShdw sx="100000" sy="100000" kx="0" ky="0" algn="bl" rotWithShape="0" blurRad="76200" dist="25400" dir="5400000">
              <a:srgbClr val="000000">
                <a:alpha val="12000"/>
              </a:srgbClr>
            </a:outerShdw>
          </a:effectLst>
        </p:spPr>
      </p:sp>
      <p:sp>
        <p:nvSpPr>
          <p:cNvPr id="14" name="Text 12"/>
          <p:cNvSpPr txBox="1"/>
          <p:nvPr/>
        </p:nvSpPr>
        <p:spPr>
          <a:xfrm>
            <a:off x="914400" y="4507992"/>
            <a:ext cx="10362895" cy="365760"/>
          </a:xfrm>
          <a:prstGeom prst="rect">
            <a:avLst/>
          </a:prstGeom>
          <a:noFill/>
          <a:ln/>
        </p:spPr>
        <p:txBody>
          <a:bodyPr wrap="square" lIns="0" tIns="0" rIns="0" bIns="0" rtlCol="0" anchor="ctr"/>
          <a:lstStyle/>
          <a:p>
            <a:pPr indent="0" marL="0">
              <a:buNone/>
            </a:pPr>
            <a:r>
              <a:rPr lang="en-US" sz="1500" b="1" dirty="0">
                <a:solidFill>
                  <a:srgbClr val="8FBF9F"/>
                </a:solidFill>
                <a:latin typeface="Cambria" pitchFamily="34" charset="0"/>
                <a:ea typeface="Cambria" pitchFamily="34" charset="-122"/>
                <a:cs typeface="Cambria" pitchFamily="34" charset="-120"/>
              </a:rPr>
              <a:t>Closest prior work &amp; this project's contribution</a:t>
            </a:r>
            <a:endParaRPr lang="en-US" sz="1500" dirty="0"/>
          </a:p>
        </p:txBody>
      </p:sp>
      <p:sp>
        <p:nvSpPr>
          <p:cNvPr id="15" name="Text 13"/>
          <p:cNvSpPr txBox="1"/>
          <p:nvPr/>
        </p:nvSpPr>
        <p:spPr>
          <a:xfrm>
            <a:off x="914400" y="4873752"/>
            <a:ext cx="10362895"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Sánchez-Mompó et al. (2025), “Green MLOps to Green GenOps,” measures energy across AI operations empirically — this project shares that method but goes further: it embeds telemetry inside a versioned, CI-tested pipeline (DVC + MLflow + GitHub Actions), so every measurement is attached to a reproducible run, not a one-off script.</a:t>
            </a:r>
            <a:endParaRPr lang="en-US" sz="1300" dirty="0"/>
          </a:p>
        </p:txBody>
      </p:sp>
      <p:sp>
        <p:nvSpPr>
          <p:cNvPr id="16" name="Text 14"/>
          <p:cNvSpPr txBox="1"/>
          <p:nvPr/>
        </p:nvSpPr>
        <p:spPr>
          <a:xfrm>
            <a:off x="640080" y="6355080"/>
            <a:ext cx="10362895" cy="320040"/>
          </a:xfrm>
          <a:prstGeom prst="rect">
            <a:avLst/>
          </a:prstGeom>
          <a:noFill/>
          <a:ln/>
        </p:spPr>
        <p:txBody>
          <a:bodyPr wrap="square" lIns="0" tIns="0" rIns="0" bIns="0" rtlCol="0" anchor="ctr"/>
          <a:lstStyle/>
          <a:p>
            <a:pPr indent="0" marL="0">
              <a:buNone/>
            </a:pPr>
            <a:r>
              <a:rPr lang="en-US" sz="1050" dirty="0">
                <a:solidFill>
                  <a:srgbClr val="8A9089"/>
                </a:solidFill>
                <a:latin typeface="Calibri" pitchFamily="34" charset="0"/>
                <a:ea typeface="Calibri" pitchFamily="34" charset="-122"/>
                <a:cs typeface="Calibri" pitchFamily="34" charset="-120"/>
              </a:rPr>
              <a:t>Green MLOps Case Study · Nandan Muruli</a:t>
            </a:r>
            <a:endParaRPr lang="en-US" sz="1050" dirty="0"/>
          </a:p>
        </p:txBody>
      </p:sp>
      <p:sp>
        <p:nvSpPr>
          <p:cNvPr id="17" name="Text 15"/>
          <p:cNvSpPr txBox="1"/>
          <p:nvPr/>
        </p:nvSpPr>
        <p:spPr>
          <a:xfrm>
            <a:off x="11002975" y="6355080"/>
            <a:ext cx="548640" cy="320040"/>
          </a:xfrm>
          <a:prstGeom prst="rect">
            <a:avLst/>
          </a:prstGeom>
          <a:noFill/>
          <a:ln/>
        </p:spPr>
        <p:txBody>
          <a:bodyPr wrap="square" lIns="0" tIns="0" rIns="0" bIns="0" rtlCol="0" anchor="ctr"/>
          <a:lstStyle/>
          <a:p>
            <a:pPr algn="r" indent="0" marL="0">
              <a:buNone/>
            </a:pPr>
            <a:r>
              <a:rPr lang="en-US" sz="1050" dirty="0">
                <a:solidFill>
                  <a:srgbClr val="8A9089"/>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2F6F52"/>
                </a:solidFill>
                <a:latin typeface="Calibri" pitchFamily="34" charset="0"/>
                <a:ea typeface="Calibri" pitchFamily="34" charset="-122"/>
                <a:cs typeface="Calibri" pitchFamily="34" charset="-120"/>
              </a:rPr>
              <a:t>METHODOLOGY &amp; ARCHITECTURE</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2700" b="1" dirty="0">
                <a:solidFill>
                  <a:srgbClr val="16302A"/>
                </a:solidFill>
                <a:latin typeface="Cambria" pitchFamily="34" charset="0"/>
                <a:ea typeface="Cambria" pitchFamily="34" charset="-122"/>
                <a:cs typeface="Cambria" pitchFamily="34" charset="-120"/>
              </a:rPr>
              <a:t>A real, locally reproducible pipeline — not a simulation</a:t>
            </a:r>
            <a:endParaRPr lang="en-US" sz="2700" dirty="0"/>
          </a:p>
        </p:txBody>
      </p:sp>
      <p:sp>
        <p:nvSpPr>
          <p:cNvPr id="4" name="Shape 2"/>
          <p:cNvSpPr/>
          <p:nvPr/>
        </p:nvSpPr>
        <p:spPr>
          <a:xfrm>
            <a:off x="640080" y="2148840"/>
            <a:ext cx="2213534" cy="1554480"/>
          </a:xfrm>
          <a:prstGeom prst="roundRect">
            <a:avLst>
              <a:gd name="adj" fmla="val 5294"/>
            </a:avLst>
          </a:prstGeom>
          <a:solidFill>
            <a:srgbClr val="EDF3EE"/>
          </a:solidFill>
          <a:ln/>
          <a:effectLst>
            <a:outerShdw sx="100000" sy="100000" kx="0" ky="0" algn="bl" rotWithShape="0" blurRad="76200" dist="25400" dir="5400000">
              <a:srgbClr val="000000">
                <a:alpha val="12000"/>
              </a:srgbClr>
            </a:outerShdw>
          </a:effectLst>
        </p:spPr>
      </p:sp>
      <p:sp>
        <p:nvSpPr>
          <p:cNvPr id="5" name="Text 3"/>
          <p:cNvSpPr txBox="1"/>
          <p:nvPr/>
        </p:nvSpPr>
        <p:spPr>
          <a:xfrm>
            <a:off x="640080" y="2377440"/>
            <a:ext cx="2213534" cy="457200"/>
          </a:xfrm>
          <a:prstGeom prst="rect">
            <a:avLst/>
          </a:prstGeom>
          <a:noFill/>
          <a:ln/>
        </p:spPr>
        <p:txBody>
          <a:bodyPr wrap="square" lIns="0" tIns="0" rIns="0" bIns="0" rtlCol="0" anchor="ctr"/>
          <a:lstStyle/>
          <a:p>
            <a:pPr algn="ctr" indent="0" marL="0">
              <a:buNone/>
            </a:pPr>
            <a:r>
              <a:rPr lang="en-US" sz="1700" b="1" dirty="0">
                <a:solidFill>
                  <a:srgbClr val="16302A"/>
                </a:solidFill>
                <a:latin typeface="Cambria" pitchFamily="34" charset="0"/>
                <a:ea typeface="Cambria" pitchFamily="34" charset="-122"/>
                <a:cs typeface="Cambria" pitchFamily="34" charset="-120"/>
              </a:rPr>
              <a:t>DVC</a:t>
            </a:r>
            <a:endParaRPr lang="en-US" sz="1700" dirty="0"/>
          </a:p>
        </p:txBody>
      </p:sp>
      <p:sp>
        <p:nvSpPr>
          <p:cNvPr id="6" name="Text 4"/>
          <p:cNvSpPr txBox="1"/>
          <p:nvPr/>
        </p:nvSpPr>
        <p:spPr>
          <a:xfrm>
            <a:off x="731520" y="2880360"/>
            <a:ext cx="2030654" cy="731520"/>
          </a:xfrm>
          <a:prstGeom prst="rect">
            <a:avLst/>
          </a:prstGeom>
          <a:noFill/>
          <a:ln/>
        </p:spPr>
        <p:txBody>
          <a:bodyPr wrap="square" lIns="0" tIns="0" rIns="0" bIns="0" rtlCol="0" anchor="ctr"/>
          <a:lstStyle/>
          <a:p>
            <a:pPr algn="ctr" indent="0" marL="0">
              <a:buNone/>
            </a:pPr>
            <a:r>
              <a:rPr lang="en-US" sz="1250" dirty="0">
                <a:solidFill>
                  <a:srgbClr val="4A5A52"/>
                </a:solidFill>
                <a:latin typeface="Calibri" pitchFamily="34" charset="0"/>
                <a:ea typeface="Calibri" pitchFamily="34" charset="-122"/>
                <a:cs typeface="Calibri" pitchFamily="34" charset="-120"/>
              </a:rPr>
              <a:t>Data &amp; pipeline</a:t>
            </a:r>
            <a:endParaRPr lang="en-US" sz="1250" dirty="0"/>
          </a:p>
          <a:p>
            <a:pPr algn="ctr" indent="0" marL="0">
              <a:buNone/>
            </a:pPr>
            <a:r>
              <a:rPr lang="en-US" sz="1250" dirty="0">
                <a:solidFill>
                  <a:srgbClr val="4A5A52"/>
                </a:solidFill>
                <a:latin typeface="Calibri" pitchFamily="34" charset="0"/>
                <a:ea typeface="Calibri" pitchFamily="34" charset="-122"/>
                <a:cs typeface="Calibri" pitchFamily="34" charset="-120"/>
              </a:rPr>
              <a:t>versioning</a:t>
            </a:r>
            <a:endParaRPr lang="en-US" sz="1250" dirty="0"/>
          </a:p>
        </p:txBody>
      </p:sp>
      <p:sp>
        <p:nvSpPr>
          <p:cNvPr id="7" name="Text 5"/>
          <p:cNvSpPr txBox="1"/>
          <p:nvPr/>
        </p:nvSpPr>
        <p:spPr>
          <a:xfrm>
            <a:off x="2853614" y="2651760"/>
            <a:ext cx="457200" cy="548640"/>
          </a:xfrm>
          <a:prstGeom prst="rect">
            <a:avLst/>
          </a:prstGeom>
          <a:noFill/>
          <a:ln/>
        </p:spPr>
        <p:txBody>
          <a:bodyPr wrap="square" lIns="0" tIns="0" rIns="0" bIns="0" rtlCol="0" anchor="ctr"/>
          <a:lstStyle/>
          <a:p>
            <a:pPr algn="ctr" indent="0" marL="0">
              <a:buNone/>
            </a:pPr>
            <a:r>
              <a:rPr lang="en-US" sz="2600" dirty="0">
                <a:solidFill>
                  <a:srgbClr val="2F6F52"/>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3539414" y="2148840"/>
            <a:ext cx="2213534" cy="1554480"/>
          </a:xfrm>
          <a:prstGeom prst="roundRect">
            <a:avLst>
              <a:gd name="adj" fmla="val 5294"/>
            </a:avLst>
          </a:prstGeom>
          <a:solidFill>
            <a:srgbClr val="EDF3EE"/>
          </a:solidFill>
          <a:ln/>
          <a:effectLst>
            <a:outerShdw sx="100000" sy="100000" kx="0" ky="0" algn="bl" rotWithShape="0" blurRad="76200" dist="25400" dir="5400000">
              <a:srgbClr val="000000">
                <a:alpha val="12000"/>
              </a:srgbClr>
            </a:outerShdw>
          </a:effectLst>
        </p:spPr>
      </p:sp>
      <p:sp>
        <p:nvSpPr>
          <p:cNvPr id="9" name="Text 7"/>
          <p:cNvSpPr txBox="1"/>
          <p:nvPr/>
        </p:nvSpPr>
        <p:spPr>
          <a:xfrm>
            <a:off x="3539414" y="2377440"/>
            <a:ext cx="2213534" cy="457200"/>
          </a:xfrm>
          <a:prstGeom prst="rect">
            <a:avLst/>
          </a:prstGeom>
          <a:noFill/>
          <a:ln/>
        </p:spPr>
        <p:txBody>
          <a:bodyPr wrap="square" lIns="0" tIns="0" rIns="0" bIns="0" rtlCol="0" anchor="ctr"/>
          <a:lstStyle/>
          <a:p>
            <a:pPr algn="ctr" indent="0" marL="0">
              <a:buNone/>
            </a:pPr>
            <a:r>
              <a:rPr lang="en-US" sz="1700" b="1" dirty="0">
                <a:solidFill>
                  <a:srgbClr val="16302A"/>
                </a:solidFill>
                <a:latin typeface="Cambria" pitchFamily="34" charset="0"/>
                <a:ea typeface="Cambria" pitchFamily="34" charset="-122"/>
                <a:cs typeface="Cambria" pitchFamily="34" charset="-120"/>
              </a:rPr>
              <a:t>MLflow</a:t>
            </a:r>
            <a:endParaRPr lang="en-US" sz="1700" dirty="0"/>
          </a:p>
        </p:txBody>
      </p:sp>
      <p:sp>
        <p:nvSpPr>
          <p:cNvPr id="10" name="Text 8"/>
          <p:cNvSpPr txBox="1"/>
          <p:nvPr/>
        </p:nvSpPr>
        <p:spPr>
          <a:xfrm>
            <a:off x="3630854" y="2880360"/>
            <a:ext cx="2030654" cy="731520"/>
          </a:xfrm>
          <a:prstGeom prst="rect">
            <a:avLst/>
          </a:prstGeom>
          <a:noFill/>
          <a:ln/>
        </p:spPr>
        <p:txBody>
          <a:bodyPr wrap="square" lIns="0" tIns="0" rIns="0" bIns="0" rtlCol="0" anchor="ctr"/>
          <a:lstStyle/>
          <a:p>
            <a:pPr algn="ctr" indent="0" marL="0">
              <a:buNone/>
            </a:pPr>
            <a:r>
              <a:rPr lang="en-US" sz="1250" dirty="0">
                <a:solidFill>
                  <a:srgbClr val="4A5A52"/>
                </a:solidFill>
                <a:latin typeface="Calibri" pitchFamily="34" charset="0"/>
                <a:ea typeface="Calibri" pitchFamily="34" charset="-122"/>
                <a:cs typeface="Calibri" pitchFamily="34" charset="-120"/>
              </a:rPr>
              <a:t>Experiment</a:t>
            </a:r>
            <a:endParaRPr lang="en-US" sz="1250" dirty="0"/>
          </a:p>
          <a:p>
            <a:pPr algn="ctr" indent="0" marL="0">
              <a:buNone/>
            </a:pPr>
            <a:r>
              <a:rPr lang="en-US" sz="1250" dirty="0">
                <a:solidFill>
                  <a:srgbClr val="4A5A52"/>
                </a:solidFill>
                <a:latin typeface="Calibri" pitchFamily="34" charset="0"/>
                <a:ea typeface="Calibri" pitchFamily="34" charset="-122"/>
                <a:cs typeface="Calibri" pitchFamily="34" charset="-120"/>
              </a:rPr>
              <a:t>tracking</a:t>
            </a:r>
            <a:endParaRPr lang="en-US" sz="1250" dirty="0"/>
          </a:p>
        </p:txBody>
      </p:sp>
      <p:sp>
        <p:nvSpPr>
          <p:cNvPr id="11" name="Text 9"/>
          <p:cNvSpPr txBox="1"/>
          <p:nvPr/>
        </p:nvSpPr>
        <p:spPr>
          <a:xfrm>
            <a:off x="5752948" y="2651760"/>
            <a:ext cx="457200" cy="548640"/>
          </a:xfrm>
          <a:prstGeom prst="rect">
            <a:avLst/>
          </a:prstGeom>
          <a:noFill/>
          <a:ln/>
        </p:spPr>
        <p:txBody>
          <a:bodyPr wrap="square" lIns="0" tIns="0" rIns="0" bIns="0" rtlCol="0" anchor="ctr"/>
          <a:lstStyle/>
          <a:p>
            <a:pPr algn="ctr" indent="0" marL="0">
              <a:buNone/>
            </a:pPr>
            <a:r>
              <a:rPr lang="en-US" sz="2600" dirty="0">
                <a:solidFill>
                  <a:srgbClr val="2F6F52"/>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6438748" y="2148840"/>
            <a:ext cx="2213534" cy="1554480"/>
          </a:xfrm>
          <a:prstGeom prst="roundRect">
            <a:avLst>
              <a:gd name="adj" fmla="val 5294"/>
            </a:avLst>
          </a:prstGeom>
          <a:solidFill>
            <a:srgbClr val="EDF3EE"/>
          </a:solidFill>
          <a:ln/>
          <a:effectLst>
            <a:outerShdw sx="100000" sy="100000" kx="0" ky="0" algn="bl" rotWithShape="0" blurRad="76200" dist="25400" dir="5400000">
              <a:srgbClr val="000000">
                <a:alpha val="12000"/>
              </a:srgbClr>
            </a:outerShdw>
          </a:effectLst>
        </p:spPr>
      </p:sp>
      <p:sp>
        <p:nvSpPr>
          <p:cNvPr id="13" name="Text 11"/>
          <p:cNvSpPr txBox="1"/>
          <p:nvPr/>
        </p:nvSpPr>
        <p:spPr>
          <a:xfrm>
            <a:off x="6438748" y="2377440"/>
            <a:ext cx="2213534" cy="457200"/>
          </a:xfrm>
          <a:prstGeom prst="rect">
            <a:avLst/>
          </a:prstGeom>
          <a:noFill/>
          <a:ln/>
        </p:spPr>
        <p:txBody>
          <a:bodyPr wrap="square" lIns="0" tIns="0" rIns="0" bIns="0" rtlCol="0" anchor="ctr"/>
          <a:lstStyle/>
          <a:p>
            <a:pPr algn="ctr" indent="0" marL="0">
              <a:buNone/>
            </a:pPr>
            <a:r>
              <a:rPr lang="en-US" sz="1700" b="1" dirty="0">
                <a:solidFill>
                  <a:srgbClr val="16302A"/>
                </a:solidFill>
                <a:latin typeface="Cambria" pitchFamily="34" charset="0"/>
                <a:ea typeface="Cambria" pitchFamily="34" charset="-122"/>
                <a:cs typeface="Cambria" pitchFamily="34" charset="-120"/>
              </a:rPr>
              <a:t>CodeCarbon</a:t>
            </a:r>
            <a:endParaRPr lang="en-US" sz="1700" dirty="0"/>
          </a:p>
        </p:txBody>
      </p:sp>
      <p:sp>
        <p:nvSpPr>
          <p:cNvPr id="14" name="Text 12"/>
          <p:cNvSpPr txBox="1"/>
          <p:nvPr/>
        </p:nvSpPr>
        <p:spPr>
          <a:xfrm>
            <a:off x="6530188" y="2880360"/>
            <a:ext cx="2030654" cy="731520"/>
          </a:xfrm>
          <a:prstGeom prst="rect">
            <a:avLst/>
          </a:prstGeom>
          <a:noFill/>
          <a:ln/>
        </p:spPr>
        <p:txBody>
          <a:bodyPr wrap="square" lIns="0" tIns="0" rIns="0" bIns="0" rtlCol="0" anchor="ctr"/>
          <a:lstStyle/>
          <a:p>
            <a:pPr algn="ctr" indent="0" marL="0">
              <a:buNone/>
            </a:pPr>
            <a:r>
              <a:rPr lang="en-US" sz="1250" dirty="0">
                <a:solidFill>
                  <a:srgbClr val="4A5A52"/>
                </a:solidFill>
                <a:latin typeface="Calibri" pitchFamily="34" charset="0"/>
                <a:ea typeface="Calibri" pitchFamily="34" charset="-122"/>
                <a:cs typeface="Calibri" pitchFamily="34" charset="-120"/>
              </a:rPr>
              <a:t>Energy &amp; emissions</a:t>
            </a:r>
            <a:endParaRPr lang="en-US" sz="1250" dirty="0"/>
          </a:p>
          <a:p>
            <a:pPr algn="ctr" indent="0" marL="0">
              <a:buNone/>
            </a:pPr>
            <a:r>
              <a:rPr lang="en-US" sz="1250" dirty="0">
                <a:solidFill>
                  <a:srgbClr val="4A5A52"/>
                </a:solidFill>
                <a:latin typeface="Calibri" pitchFamily="34" charset="0"/>
                <a:ea typeface="Calibri" pitchFamily="34" charset="-122"/>
                <a:cs typeface="Calibri" pitchFamily="34" charset="-120"/>
              </a:rPr>
              <a:t>telemetry</a:t>
            </a:r>
            <a:endParaRPr lang="en-US" sz="1250" dirty="0"/>
          </a:p>
        </p:txBody>
      </p:sp>
      <p:sp>
        <p:nvSpPr>
          <p:cNvPr id="15" name="Text 13"/>
          <p:cNvSpPr txBox="1"/>
          <p:nvPr/>
        </p:nvSpPr>
        <p:spPr>
          <a:xfrm>
            <a:off x="8652281" y="2651760"/>
            <a:ext cx="457200" cy="548640"/>
          </a:xfrm>
          <a:prstGeom prst="rect">
            <a:avLst/>
          </a:prstGeom>
          <a:noFill/>
          <a:ln/>
        </p:spPr>
        <p:txBody>
          <a:bodyPr wrap="square" lIns="0" tIns="0" rIns="0" bIns="0" rtlCol="0" anchor="ctr"/>
          <a:lstStyle/>
          <a:p>
            <a:pPr algn="ctr" indent="0" marL="0">
              <a:buNone/>
            </a:pPr>
            <a:r>
              <a:rPr lang="en-US" sz="2600" dirty="0">
                <a:solidFill>
                  <a:srgbClr val="2F6F52"/>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9338081" y="2148840"/>
            <a:ext cx="2213534" cy="1554480"/>
          </a:xfrm>
          <a:prstGeom prst="roundRect">
            <a:avLst>
              <a:gd name="adj" fmla="val 5294"/>
            </a:avLst>
          </a:prstGeom>
          <a:solidFill>
            <a:srgbClr val="EDF3EE"/>
          </a:solidFill>
          <a:ln/>
          <a:effectLst>
            <a:outerShdw sx="100000" sy="100000" kx="0" ky="0" algn="bl" rotWithShape="0" blurRad="76200" dist="25400" dir="5400000">
              <a:srgbClr val="000000">
                <a:alpha val="12000"/>
              </a:srgbClr>
            </a:outerShdw>
          </a:effectLst>
        </p:spPr>
      </p:sp>
      <p:sp>
        <p:nvSpPr>
          <p:cNvPr id="17" name="Text 15"/>
          <p:cNvSpPr txBox="1"/>
          <p:nvPr/>
        </p:nvSpPr>
        <p:spPr>
          <a:xfrm>
            <a:off x="9338081" y="2377440"/>
            <a:ext cx="2213534" cy="457200"/>
          </a:xfrm>
          <a:prstGeom prst="rect">
            <a:avLst/>
          </a:prstGeom>
          <a:noFill/>
          <a:ln/>
        </p:spPr>
        <p:txBody>
          <a:bodyPr wrap="square" lIns="0" tIns="0" rIns="0" bIns="0" rtlCol="0" anchor="ctr"/>
          <a:lstStyle/>
          <a:p>
            <a:pPr algn="ctr" indent="0" marL="0">
              <a:buNone/>
            </a:pPr>
            <a:r>
              <a:rPr lang="en-US" sz="1700" b="1" dirty="0">
                <a:solidFill>
                  <a:srgbClr val="16302A"/>
                </a:solidFill>
                <a:latin typeface="Cambria" pitchFamily="34" charset="0"/>
                <a:ea typeface="Cambria" pitchFamily="34" charset="-122"/>
                <a:cs typeface="Cambria" pitchFamily="34" charset="-120"/>
              </a:rPr>
              <a:t>Docker + CI</a:t>
            </a:r>
            <a:endParaRPr lang="en-US" sz="1700" dirty="0"/>
          </a:p>
        </p:txBody>
      </p:sp>
      <p:sp>
        <p:nvSpPr>
          <p:cNvPr id="18" name="Text 16"/>
          <p:cNvSpPr txBox="1"/>
          <p:nvPr/>
        </p:nvSpPr>
        <p:spPr>
          <a:xfrm>
            <a:off x="9429521" y="2880360"/>
            <a:ext cx="2030654" cy="731520"/>
          </a:xfrm>
          <a:prstGeom prst="rect">
            <a:avLst/>
          </a:prstGeom>
          <a:noFill/>
          <a:ln/>
        </p:spPr>
        <p:txBody>
          <a:bodyPr wrap="square" lIns="0" tIns="0" rIns="0" bIns="0" rtlCol="0" anchor="ctr"/>
          <a:lstStyle/>
          <a:p>
            <a:pPr algn="ctr" indent="0" marL="0">
              <a:buNone/>
            </a:pPr>
            <a:r>
              <a:rPr lang="en-US" sz="1250" dirty="0">
                <a:solidFill>
                  <a:srgbClr val="4A5A52"/>
                </a:solidFill>
                <a:latin typeface="Calibri" pitchFamily="34" charset="0"/>
                <a:ea typeface="Calibri" pitchFamily="34" charset="-122"/>
                <a:cs typeface="Calibri" pitchFamily="34" charset="-120"/>
              </a:rPr>
              <a:t>Containerized,</a:t>
            </a:r>
            <a:endParaRPr lang="en-US" sz="1250" dirty="0"/>
          </a:p>
          <a:p>
            <a:pPr algn="ctr" indent="0" marL="0">
              <a:buNone/>
            </a:pPr>
            <a:r>
              <a:rPr lang="en-US" sz="1250" dirty="0">
                <a:solidFill>
                  <a:srgbClr val="4A5A52"/>
                </a:solidFill>
                <a:latin typeface="Calibri" pitchFamily="34" charset="0"/>
                <a:ea typeface="Calibri" pitchFamily="34" charset="-122"/>
                <a:cs typeface="Calibri" pitchFamily="34" charset="-120"/>
              </a:rPr>
              <a:t>CI-driven runs</a:t>
            </a:r>
            <a:endParaRPr lang="en-US" sz="1250" dirty="0"/>
          </a:p>
        </p:txBody>
      </p:sp>
      <p:sp>
        <p:nvSpPr>
          <p:cNvPr id="19" name="Shape 17"/>
          <p:cNvSpPr/>
          <p:nvPr/>
        </p:nvSpPr>
        <p:spPr>
          <a:xfrm>
            <a:off x="640080" y="4023360"/>
            <a:ext cx="10911535" cy="1417320"/>
          </a:xfrm>
          <a:prstGeom prst="roundRect">
            <a:avLst>
              <a:gd name="adj" fmla="val 5806"/>
            </a:avLst>
          </a:prstGeom>
          <a:solidFill>
            <a:srgbClr val="1E4438"/>
          </a:solidFill>
          <a:ln/>
          <a:effectLst>
            <a:outerShdw sx="100000" sy="100000" kx="0" ky="0" algn="bl" rotWithShape="0" blurRad="76200" dist="25400" dir="5400000">
              <a:srgbClr val="000000">
                <a:alpha val="12000"/>
              </a:srgbClr>
            </a:outerShdw>
          </a:effectLst>
        </p:spPr>
      </p:sp>
      <p:sp>
        <p:nvSpPr>
          <p:cNvPr id="20" name="Text 18"/>
          <p:cNvSpPr txBox="1"/>
          <p:nvPr/>
        </p:nvSpPr>
        <p:spPr>
          <a:xfrm>
            <a:off x="914400" y="4187952"/>
            <a:ext cx="10362895" cy="365760"/>
          </a:xfrm>
          <a:prstGeom prst="rect">
            <a:avLst/>
          </a:prstGeom>
          <a:noFill/>
          <a:ln/>
        </p:spPr>
        <p:txBody>
          <a:bodyPr wrap="square" lIns="0" tIns="0" rIns="0" bIns="0" rtlCol="0" anchor="ctr"/>
          <a:lstStyle/>
          <a:p>
            <a:pPr indent="0" marL="0">
              <a:buNone/>
            </a:pPr>
            <a:r>
              <a:rPr lang="en-US" sz="1600" b="1" dirty="0">
                <a:solidFill>
                  <a:srgbClr val="8FBF9F"/>
                </a:solidFill>
                <a:latin typeface="Cambria" pitchFamily="34" charset="0"/>
                <a:ea typeface="Cambria" pitchFamily="34" charset="-122"/>
                <a:cs typeface="Cambria" pitchFamily="34" charset="-120"/>
              </a:rPr>
              <a:t>The workload</a:t>
            </a:r>
            <a:endParaRPr lang="en-US" sz="1600" dirty="0"/>
          </a:p>
        </p:txBody>
      </p:sp>
      <p:sp>
        <p:nvSpPr>
          <p:cNvPr id="21" name="Text 19"/>
          <p:cNvSpPr txBox="1"/>
          <p:nvPr/>
        </p:nvSpPr>
        <p:spPr>
          <a:xfrm>
            <a:off x="914400" y="4572000"/>
            <a:ext cx="10362895"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DistilBERT (distilbert-base-uncased) binary sentiment classifier, fine-tuned on 500 training / 100 evaluation IMDb examples for 2 epochs — small enough to stay fully reproducible within the project's time budget, while still exercising a realistic transformer fine-tuning workload.</a:t>
            </a:r>
            <a:endParaRPr lang="en-US" sz="1400" dirty="0"/>
          </a:p>
        </p:txBody>
      </p:sp>
      <p:sp>
        <p:nvSpPr>
          <p:cNvPr id="22" name="Text 20"/>
          <p:cNvSpPr txBox="1"/>
          <p:nvPr/>
        </p:nvSpPr>
        <p:spPr>
          <a:xfrm>
            <a:off x="640080" y="6355080"/>
            <a:ext cx="10362895" cy="320040"/>
          </a:xfrm>
          <a:prstGeom prst="rect">
            <a:avLst/>
          </a:prstGeom>
          <a:noFill/>
          <a:ln/>
        </p:spPr>
        <p:txBody>
          <a:bodyPr wrap="square" lIns="0" tIns="0" rIns="0" bIns="0" rtlCol="0" anchor="ctr"/>
          <a:lstStyle/>
          <a:p>
            <a:pPr indent="0" marL="0">
              <a:buNone/>
            </a:pPr>
            <a:r>
              <a:rPr lang="en-US" sz="1050" dirty="0">
                <a:solidFill>
                  <a:srgbClr val="8A9089"/>
                </a:solidFill>
                <a:latin typeface="Calibri" pitchFamily="34" charset="0"/>
                <a:ea typeface="Calibri" pitchFamily="34" charset="-122"/>
                <a:cs typeface="Calibri" pitchFamily="34" charset="-120"/>
              </a:rPr>
              <a:t>Green MLOps Case Study · Nandan Muruli</a:t>
            </a:r>
            <a:endParaRPr lang="en-US" sz="1050" dirty="0"/>
          </a:p>
        </p:txBody>
      </p:sp>
      <p:sp>
        <p:nvSpPr>
          <p:cNvPr id="23" name="Text 21"/>
          <p:cNvSpPr txBox="1"/>
          <p:nvPr/>
        </p:nvSpPr>
        <p:spPr>
          <a:xfrm>
            <a:off x="11002975" y="6355080"/>
            <a:ext cx="548640" cy="320040"/>
          </a:xfrm>
          <a:prstGeom prst="rect">
            <a:avLst/>
          </a:prstGeom>
          <a:noFill/>
          <a:ln/>
        </p:spPr>
        <p:txBody>
          <a:bodyPr wrap="square" lIns="0" tIns="0" rIns="0" bIns="0" rtlCol="0" anchor="ctr"/>
          <a:lstStyle/>
          <a:p>
            <a:pPr algn="r" indent="0" marL="0">
              <a:buNone/>
            </a:pPr>
            <a:r>
              <a:rPr lang="en-US" sz="1050" dirty="0">
                <a:solidFill>
                  <a:srgbClr val="8A9089"/>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C97A2B"/>
                </a:solidFill>
                <a:latin typeface="Calibri" pitchFamily="34" charset="0"/>
                <a:ea typeface="Calibri" pitchFamily="34" charset="-122"/>
                <a:cs typeface="Calibri" pitchFamily="34" charset="-120"/>
              </a:rPr>
              <a:t>DOCUMENTED SCOPE ADAPTATION</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2600" b="1" dirty="0">
                <a:solidFill>
                  <a:srgbClr val="16302A"/>
                </a:solidFill>
                <a:latin typeface="Cambria" pitchFamily="34" charset="0"/>
                <a:ea typeface="Cambria" pitchFamily="34" charset="-122"/>
                <a:cs typeface="Cambria" pitchFamily="34" charset="-120"/>
              </a:rPr>
              <a:t>A hardware constraint, stated explicitly — not a hidden shortcut</a:t>
            </a:r>
            <a:endParaRPr lang="en-US" sz="2600" dirty="0"/>
          </a:p>
        </p:txBody>
      </p:sp>
      <p:sp>
        <p:nvSpPr>
          <p:cNvPr id="4" name="Text 2"/>
          <p:cNvSpPr txBox="1"/>
          <p:nvPr/>
        </p:nvSpPr>
        <p:spPr>
          <a:xfrm>
            <a:off x="640080" y="1874520"/>
            <a:ext cx="10911535" cy="457200"/>
          </a:xfrm>
          <a:prstGeom prst="rect">
            <a:avLst/>
          </a:prstGeom>
          <a:noFill/>
          <a:ln/>
        </p:spPr>
        <p:txBody>
          <a:bodyPr wrap="square" lIns="0" tIns="0" rIns="0" bIns="0" rtlCol="0" anchor="ctr"/>
          <a:lstStyle/>
          <a:p>
            <a:pPr indent="0" marL="0">
              <a:buNone/>
            </a:pPr>
            <a:r>
              <a:rPr lang="en-US" sz="1500" dirty="0">
                <a:solidFill>
                  <a:srgbClr val="4A5A52"/>
                </a:solidFill>
                <a:latin typeface="Calibri" pitchFamily="34" charset="0"/>
                <a:ea typeface="Calibri" pitchFamily="34" charset="-122"/>
                <a:cs typeface="Calibri" pitchFamily="34" charset="-120"/>
              </a:rPr>
              <a:t>The available hardware has no Intel RAPL interface and no NVIDIA GPU, so two originally-proposed components were substituted:</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468880"/>
          <a:ext cx="10911535" cy="3017520"/>
        </p:xfrm>
        <a:graphic>
          <a:graphicData uri="http://schemas.openxmlformats.org/drawingml/2006/table">
            <a:tbl>
              <a:tblPr/>
              <a:tblGrid>
                <a:gridCol w="3709922"/>
                <a:gridCol w="3928153"/>
                <a:gridCol w="3273461"/>
              </a:tblGrid>
              <a:tr h="7543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Originally proposed</a:t>
                      </a:r>
                      <a:endParaRPr lang="en-US" sz="1400" dirty="0">
                        <a:latin typeface="Calibri" charset="0"/>
                        <a:ea typeface="Calibri" charset="0"/>
                        <a:cs typeface="Calibri" charset="0"/>
                      </a:endParaRPr>
                    </a:p>
                  </a:txBody>
                  <a:tcPr marL="127000" marR="127000" marT="101600" marB="101600" anchor="ctr">
                    <a:lnL w="12700" cap="flat" cmpd="sng" algn="ctr">
                      <a:solidFill>
                        <a:srgbClr val="C9D2CA"/>
                      </a:solidFill>
                      <a:prstDash val="solid"/>
                      <a:round/>
                      <a:headEnd type="none" w="med" len="med"/>
                      <a:tailEnd type="none" w="med" len="med"/>
                    </a:lnL>
                    <a:lnR w="12700" cap="flat" cmpd="sng" algn="ctr">
                      <a:solidFill>
                        <a:srgbClr val="C9D2CA"/>
                      </a:solidFill>
                      <a:prstDash val="solid"/>
                      <a:round/>
                      <a:headEnd type="none" w="med" len="med"/>
                      <a:tailEnd type="none" w="med" len="med"/>
                    </a:lnR>
                    <a:lnT w="12700" cap="flat" cmpd="sng" algn="ctr">
                      <a:solidFill>
                        <a:srgbClr val="C9D2CA"/>
                      </a:solidFill>
                      <a:prstDash val="solid"/>
                      <a:round/>
                      <a:headEnd type="none" w="med" len="med"/>
                      <a:tailEnd type="none" w="med" len="med"/>
                    </a:lnT>
                    <a:lnB w="12700" cap="flat" cmpd="sng" algn="ctr">
                      <a:solidFill>
                        <a:srgbClr val="C9D2CA"/>
                      </a:solidFill>
                      <a:prstDash val="solid"/>
                      <a:round/>
                      <a:headEnd type="none" w="med" len="med"/>
                      <a:tailEnd type="none" w="med" len="med"/>
                    </a:lnB>
                    <a:solidFill>
                      <a:srgbClr val="1630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Used instead</a:t>
                      </a:r>
                      <a:endParaRPr lang="en-US" sz="1400" dirty="0">
                        <a:latin typeface="Calibri" charset="0"/>
                        <a:ea typeface="Calibri" charset="0"/>
                        <a:cs typeface="Calibri" charset="0"/>
                      </a:endParaRPr>
                    </a:p>
                  </a:txBody>
                  <a:tcPr marL="127000" marR="127000" marT="101600" marB="101600" anchor="ctr">
                    <a:lnL w="12700" cap="flat" cmpd="sng" algn="ctr">
                      <a:solidFill>
                        <a:srgbClr val="C9D2CA"/>
                      </a:solidFill>
                      <a:prstDash val="solid"/>
                      <a:round/>
                      <a:headEnd type="none" w="med" len="med"/>
                      <a:tailEnd type="none" w="med" len="med"/>
                    </a:lnL>
                    <a:lnR w="12700" cap="flat" cmpd="sng" algn="ctr">
                      <a:solidFill>
                        <a:srgbClr val="C9D2CA"/>
                      </a:solidFill>
                      <a:prstDash val="solid"/>
                      <a:round/>
                      <a:headEnd type="none" w="med" len="med"/>
                      <a:tailEnd type="none" w="med" len="med"/>
                    </a:lnR>
                    <a:lnT w="12700" cap="flat" cmpd="sng" algn="ctr">
                      <a:solidFill>
                        <a:srgbClr val="C9D2CA"/>
                      </a:solidFill>
                      <a:prstDash val="solid"/>
                      <a:round/>
                      <a:headEnd type="none" w="med" len="med"/>
                      <a:tailEnd type="none" w="med" len="med"/>
                    </a:lnT>
                    <a:lnB w="12700" cap="flat" cmpd="sng" algn="ctr">
                      <a:solidFill>
                        <a:srgbClr val="C9D2CA"/>
                      </a:solidFill>
                      <a:prstDash val="solid"/>
                      <a:round/>
                      <a:headEnd type="none" w="med" len="med"/>
                      <a:tailEnd type="none" w="med" len="med"/>
                    </a:lnB>
                    <a:solidFill>
                      <a:srgbClr val="1630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127000" marR="127000" marT="101600" marB="101600" anchor="ctr">
                    <a:lnL w="12700" cap="flat" cmpd="sng" algn="ctr">
                      <a:solidFill>
                        <a:srgbClr val="C9D2CA"/>
                      </a:solidFill>
                      <a:prstDash val="solid"/>
                      <a:round/>
                      <a:headEnd type="none" w="med" len="med"/>
                      <a:tailEnd type="none" w="med" len="med"/>
                    </a:lnL>
                    <a:lnR w="12700" cap="flat" cmpd="sng" algn="ctr">
                      <a:solidFill>
                        <a:srgbClr val="C9D2CA"/>
                      </a:solidFill>
                      <a:prstDash val="solid"/>
                      <a:round/>
                      <a:headEnd type="none" w="med" len="med"/>
                      <a:tailEnd type="none" w="med" len="med"/>
                    </a:lnR>
                    <a:lnT w="12700" cap="flat" cmpd="sng" algn="ctr">
                      <a:solidFill>
                        <a:srgbClr val="C9D2CA"/>
                      </a:solidFill>
                      <a:prstDash val="solid"/>
                      <a:round/>
                      <a:headEnd type="none" w="med" len="med"/>
                      <a:tailEnd type="none" w="med" len="med"/>
                    </a:lnT>
                    <a:lnB w="12700" cap="flat" cmpd="sng" algn="ctr">
                      <a:solidFill>
                        <a:srgbClr val="C9D2CA"/>
                      </a:solidFill>
                      <a:prstDash val="solid"/>
                      <a:round/>
                      <a:headEnd type="none" w="med" len="med"/>
                      <a:tailEnd type="none" w="med" len="med"/>
                    </a:lnB>
                    <a:solidFill>
                      <a:srgbClr val="16302A"/>
                    </a:solidFill>
                  </a:tcPr>
                </a:tc>
              </a:tr>
              <a:tr h="754380">
                <a:tc>
                  <a:txBody>
                    <a:bodyPr/>
                    <a:lstStyle/>
                    <a:p>
                      <a:pPr indent="0" marL="0">
                        <a:buNone/>
                      </a:pPr>
                      <a:r>
                        <a:rPr lang="en-US" sz="1400" dirty="0">
                          <a:solidFill>
                            <a:srgbClr val="16302A"/>
                          </a:solidFill>
                          <a:latin typeface="Calibri" pitchFamily="34" charset="0"/>
                          <a:ea typeface="Calibri" pitchFamily="34" charset="-122"/>
                          <a:cs typeface="Calibri" pitchFamily="34" charset="-120"/>
                        </a:rPr>
                        <a:t>Scaphandre (Intel RAPL telemetry)</a:t>
                      </a:r>
                      <a:endParaRPr lang="en-US" sz="1400" dirty="0">
                        <a:latin typeface="Calibri" charset="0"/>
                        <a:ea typeface="Calibri" charset="0"/>
                        <a:cs typeface="Calibri" charset="0"/>
                      </a:endParaRPr>
                    </a:p>
                  </a:txBody>
                  <a:tcPr marL="127000" marR="127000" marT="101600" marB="101600" anchor="ctr">
                    <a:lnL w="12700" cap="flat" cmpd="sng" algn="ctr">
                      <a:solidFill>
                        <a:srgbClr val="C9D2CA"/>
                      </a:solidFill>
                      <a:prstDash val="solid"/>
                      <a:round/>
                      <a:headEnd type="none" w="med" len="med"/>
                      <a:tailEnd type="none" w="med" len="med"/>
                    </a:lnL>
                    <a:lnR w="12700" cap="flat" cmpd="sng" algn="ctr">
                      <a:solidFill>
                        <a:srgbClr val="C9D2CA"/>
                      </a:solidFill>
                      <a:prstDash val="solid"/>
                      <a:round/>
                      <a:headEnd type="none" w="med" len="med"/>
                      <a:tailEnd type="none" w="med" len="med"/>
                    </a:lnR>
                    <a:lnT w="12700" cap="flat" cmpd="sng" algn="ctr">
                      <a:solidFill>
                        <a:srgbClr val="C9D2CA"/>
                      </a:solidFill>
                      <a:prstDash val="solid"/>
                      <a:round/>
                      <a:headEnd type="none" w="med" len="med"/>
                      <a:tailEnd type="none" w="med" len="med"/>
                    </a:lnT>
                    <a:lnB w="12700" cap="flat" cmpd="sng" algn="ctr">
                      <a:solidFill>
                        <a:srgbClr val="C9D2CA"/>
                      </a:solidFill>
                      <a:prstDash val="solid"/>
                      <a:round/>
                      <a:headEnd type="none" w="med" len="med"/>
                      <a:tailEnd type="none" w="med" len="med"/>
                    </a:lnB>
                  </a:tcPr>
                </a:tc>
                <a:tc>
                  <a:txBody>
                    <a:bodyPr/>
                    <a:lstStyle/>
                    <a:p>
                      <a:pPr indent="0" marL="0">
                        <a:buNone/>
                      </a:pPr>
                      <a:r>
                        <a:rPr lang="en-US" sz="1400" b="1" dirty="0">
                          <a:solidFill>
                            <a:srgbClr val="16302A"/>
                          </a:solidFill>
                          <a:latin typeface="Calibri" pitchFamily="34" charset="0"/>
                          <a:ea typeface="Calibri" pitchFamily="34" charset="-122"/>
                          <a:cs typeface="Calibri" pitchFamily="34" charset="-120"/>
                        </a:rPr>
                        <a:t>CodeCarbon (process / CPU / RAM estimation)</a:t>
                      </a:r>
                      <a:endParaRPr lang="en-US" sz="1400" dirty="0">
                        <a:latin typeface="Calibri" charset="0"/>
                        <a:ea typeface="Calibri" charset="0"/>
                        <a:cs typeface="Calibri" charset="0"/>
                      </a:endParaRPr>
                    </a:p>
                  </a:txBody>
                  <a:tcPr marL="127000" marR="127000" marT="101600" marB="101600" anchor="ctr">
                    <a:lnL w="12700" cap="flat" cmpd="sng" algn="ctr">
                      <a:solidFill>
                        <a:srgbClr val="C9D2CA"/>
                      </a:solidFill>
                      <a:prstDash val="solid"/>
                      <a:round/>
                      <a:headEnd type="none" w="med" len="med"/>
                      <a:tailEnd type="none" w="med" len="med"/>
                    </a:lnL>
                    <a:lnR w="12700" cap="flat" cmpd="sng" algn="ctr">
                      <a:solidFill>
                        <a:srgbClr val="C9D2CA"/>
                      </a:solidFill>
                      <a:prstDash val="solid"/>
                      <a:round/>
                      <a:headEnd type="none" w="med" len="med"/>
                      <a:tailEnd type="none" w="med" len="med"/>
                    </a:lnR>
                    <a:lnT w="12700" cap="flat" cmpd="sng" algn="ctr">
                      <a:solidFill>
                        <a:srgbClr val="C9D2CA"/>
                      </a:solidFill>
                      <a:prstDash val="solid"/>
                      <a:round/>
                      <a:headEnd type="none" w="med" len="med"/>
                      <a:tailEnd type="none" w="med" len="med"/>
                    </a:lnT>
                    <a:lnB w="12700" cap="flat" cmpd="sng" algn="ctr">
                      <a:solidFill>
                        <a:srgbClr val="C9D2CA"/>
                      </a:solidFill>
                      <a:prstDash val="solid"/>
                      <a:round/>
                      <a:headEnd type="none" w="med" len="med"/>
                      <a:tailEnd type="none" w="med" len="med"/>
                    </a:lnB>
                  </a:tcPr>
                </a:tc>
                <a:tc>
                  <a:txBody>
                    <a:bodyPr/>
                    <a:lstStyle/>
                    <a:p>
                      <a:pPr indent="0" marL="0">
                        <a:buNone/>
                      </a:pPr>
                      <a:r>
                        <a:rPr lang="en-US" sz="1400" dirty="0">
                          <a:solidFill>
                            <a:srgbClr val="16302A"/>
                          </a:solidFill>
                          <a:latin typeface="Calibri" pitchFamily="34" charset="0"/>
                          <a:ea typeface="Calibri" pitchFamily="34" charset="-122"/>
                          <a:cs typeface="Calibri" pitchFamily="34" charset="-120"/>
                        </a:rPr>
                        <a:t>No RAPL interface on available hardware</a:t>
                      </a:r>
                      <a:endParaRPr lang="en-US" sz="1400" dirty="0">
                        <a:latin typeface="Calibri" charset="0"/>
                        <a:ea typeface="Calibri" charset="0"/>
                        <a:cs typeface="Calibri" charset="0"/>
                      </a:endParaRPr>
                    </a:p>
                  </a:txBody>
                  <a:tcPr marL="127000" marR="127000" marT="101600" marB="101600" anchor="ctr">
                    <a:lnL w="12700" cap="flat" cmpd="sng" algn="ctr">
                      <a:solidFill>
                        <a:srgbClr val="C9D2CA"/>
                      </a:solidFill>
                      <a:prstDash val="solid"/>
                      <a:round/>
                      <a:headEnd type="none" w="med" len="med"/>
                      <a:tailEnd type="none" w="med" len="med"/>
                    </a:lnL>
                    <a:lnR w="12700" cap="flat" cmpd="sng" algn="ctr">
                      <a:solidFill>
                        <a:srgbClr val="C9D2CA"/>
                      </a:solidFill>
                      <a:prstDash val="solid"/>
                      <a:round/>
                      <a:headEnd type="none" w="med" len="med"/>
                      <a:tailEnd type="none" w="med" len="med"/>
                    </a:lnR>
                    <a:lnT w="12700" cap="flat" cmpd="sng" algn="ctr">
                      <a:solidFill>
                        <a:srgbClr val="C9D2CA"/>
                      </a:solidFill>
                      <a:prstDash val="solid"/>
                      <a:round/>
                      <a:headEnd type="none" w="med" len="med"/>
                      <a:tailEnd type="none" w="med" len="med"/>
                    </a:lnT>
                    <a:lnB w="12700" cap="flat" cmpd="sng" algn="ctr">
                      <a:solidFill>
                        <a:srgbClr val="C9D2CA"/>
                      </a:solidFill>
                      <a:prstDash val="solid"/>
                      <a:round/>
                      <a:headEnd type="none" w="med" len="med"/>
                      <a:tailEnd type="none" w="med" len="med"/>
                    </a:lnB>
                  </a:tcPr>
                </a:tc>
              </a:tr>
              <a:tr h="754380">
                <a:tc>
                  <a:txBody>
                    <a:bodyPr/>
                    <a:lstStyle/>
                    <a:p>
                      <a:pPr indent="0" marL="0">
                        <a:buNone/>
                      </a:pPr>
                      <a:r>
                        <a:rPr lang="en-US" sz="1400" dirty="0">
                          <a:solidFill>
                            <a:srgbClr val="16302A"/>
                          </a:solidFill>
                          <a:latin typeface="Calibri" pitchFamily="34" charset="0"/>
                          <a:ea typeface="Calibri" pitchFamily="34" charset="-122"/>
                          <a:cs typeface="Calibri" pitchFamily="34" charset="-120"/>
                        </a:rPr>
                        <a:t>GPU power-capping</a:t>
                      </a:r>
                      <a:endParaRPr lang="en-US" sz="1400" dirty="0">
                        <a:latin typeface="Calibri" charset="0"/>
                        <a:ea typeface="Calibri" charset="0"/>
                        <a:cs typeface="Calibri" charset="0"/>
                      </a:endParaRPr>
                    </a:p>
                  </a:txBody>
                  <a:tcPr marL="127000" marR="127000" marT="101600" marB="101600" anchor="ctr">
                    <a:lnL w="12700" cap="flat" cmpd="sng" algn="ctr">
                      <a:solidFill>
                        <a:srgbClr val="C9D2CA"/>
                      </a:solidFill>
                      <a:prstDash val="solid"/>
                      <a:round/>
                      <a:headEnd type="none" w="med" len="med"/>
                      <a:tailEnd type="none" w="med" len="med"/>
                    </a:lnL>
                    <a:lnR w="12700" cap="flat" cmpd="sng" algn="ctr">
                      <a:solidFill>
                        <a:srgbClr val="C9D2CA"/>
                      </a:solidFill>
                      <a:prstDash val="solid"/>
                      <a:round/>
                      <a:headEnd type="none" w="med" len="med"/>
                      <a:tailEnd type="none" w="med" len="med"/>
                    </a:lnR>
                    <a:lnT w="12700" cap="flat" cmpd="sng" algn="ctr">
                      <a:solidFill>
                        <a:srgbClr val="C9D2CA"/>
                      </a:solidFill>
                      <a:prstDash val="solid"/>
                      <a:round/>
                      <a:headEnd type="none" w="med" len="med"/>
                      <a:tailEnd type="none" w="med" len="med"/>
                    </a:lnT>
                    <a:lnB w="12700" cap="flat" cmpd="sng" algn="ctr">
                      <a:solidFill>
                        <a:srgbClr val="C9D2CA"/>
                      </a:solidFill>
                      <a:prstDash val="solid"/>
                      <a:round/>
                      <a:headEnd type="none" w="med" len="med"/>
                      <a:tailEnd type="none" w="med" len="med"/>
                    </a:lnB>
                    <a:solidFill>
                      <a:srgbClr val="EDF3EE"/>
                    </a:solidFill>
                  </a:tcPr>
                </a:tc>
                <a:tc>
                  <a:txBody>
                    <a:bodyPr/>
                    <a:lstStyle/>
                    <a:p>
                      <a:pPr indent="0" marL="0">
                        <a:buNone/>
                      </a:pPr>
                      <a:r>
                        <a:rPr lang="en-US" sz="1400" b="1" dirty="0">
                          <a:solidFill>
                            <a:srgbClr val="16302A"/>
                          </a:solidFill>
                          <a:latin typeface="Calibri" pitchFamily="34" charset="0"/>
                          <a:ea typeface="Calibri" pitchFamily="34" charset="-122"/>
                          <a:cs typeface="Calibri" pitchFamily="34" charset="-120"/>
                        </a:rPr>
                        <a:t>CPU thread-count cap (torch.set_num_threads)</a:t>
                      </a:r>
                      <a:endParaRPr lang="en-US" sz="1400" dirty="0">
                        <a:latin typeface="Calibri" charset="0"/>
                        <a:ea typeface="Calibri" charset="0"/>
                        <a:cs typeface="Calibri" charset="0"/>
                      </a:endParaRPr>
                    </a:p>
                  </a:txBody>
                  <a:tcPr marL="127000" marR="127000" marT="101600" marB="101600" anchor="ctr">
                    <a:lnL w="12700" cap="flat" cmpd="sng" algn="ctr">
                      <a:solidFill>
                        <a:srgbClr val="C9D2CA"/>
                      </a:solidFill>
                      <a:prstDash val="solid"/>
                      <a:round/>
                      <a:headEnd type="none" w="med" len="med"/>
                      <a:tailEnd type="none" w="med" len="med"/>
                    </a:lnL>
                    <a:lnR w="12700" cap="flat" cmpd="sng" algn="ctr">
                      <a:solidFill>
                        <a:srgbClr val="C9D2CA"/>
                      </a:solidFill>
                      <a:prstDash val="solid"/>
                      <a:round/>
                      <a:headEnd type="none" w="med" len="med"/>
                      <a:tailEnd type="none" w="med" len="med"/>
                    </a:lnR>
                    <a:lnT w="12700" cap="flat" cmpd="sng" algn="ctr">
                      <a:solidFill>
                        <a:srgbClr val="C9D2CA"/>
                      </a:solidFill>
                      <a:prstDash val="solid"/>
                      <a:round/>
                      <a:headEnd type="none" w="med" len="med"/>
                      <a:tailEnd type="none" w="med" len="med"/>
                    </a:lnT>
                    <a:lnB w="12700" cap="flat" cmpd="sng" algn="ctr">
                      <a:solidFill>
                        <a:srgbClr val="C9D2CA"/>
                      </a:solidFill>
                      <a:prstDash val="solid"/>
                      <a:round/>
                      <a:headEnd type="none" w="med" len="med"/>
                      <a:tailEnd type="none" w="med" len="med"/>
                    </a:lnB>
                    <a:solidFill>
                      <a:srgbClr val="EDF3EE"/>
                    </a:solidFill>
                  </a:tcPr>
                </a:tc>
                <a:tc>
                  <a:txBody>
                    <a:bodyPr/>
                    <a:lstStyle/>
                    <a:p>
                      <a:pPr indent="0" marL="0">
                        <a:buNone/>
                      </a:pPr>
                      <a:r>
                        <a:rPr lang="en-US" sz="1400" dirty="0">
                          <a:solidFill>
                            <a:srgbClr val="16302A"/>
                          </a:solidFill>
                          <a:latin typeface="Calibri" pitchFamily="34" charset="0"/>
                          <a:ea typeface="Calibri" pitchFamily="34" charset="-122"/>
                          <a:cs typeface="Calibri" pitchFamily="34" charset="-120"/>
                        </a:rPr>
                        <a:t>No NVIDIA GPU available</a:t>
                      </a:r>
                      <a:endParaRPr lang="en-US" sz="1400" dirty="0">
                        <a:latin typeface="Calibri" charset="0"/>
                        <a:ea typeface="Calibri" charset="0"/>
                        <a:cs typeface="Calibri" charset="0"/>
                      </a:endParaRPr>
                    </a:p>
                  </a:txBody>
                  <a:tcPr marL="127000" marR="127000" marT="101600" marB="101600" anchor="ctr">
                    <a:lnL w="12700" cap="flat" cmpd="sng" algn="ctr">
                      <a:solidFill>
                        <a:srgbClr val="C9D2CA"/>
                      </a:solidFill>
                      <a:prstDash val="solid"/>
                      <a:round/>
                      <a:headEnd type="none" w="med" len="med"/>
                      <a:tailEnd type="none" w="med" len="med"/>
                    </a:lnL>
                    <a:lnR w="12700" cap="flat" cmpd="sng" algn="ctr">
                      <a:solidFill>
                        <a:srgbClr val="C9D2CA"/>
                      </a:solidFill>
                      <a:prstDash val="solid"/>
                      <a:round/>
                      <a:headEnd type="none" w="med" len="med"/>
                      <a:tailEnd type="none" w="med" len="med"/>
                    </a:lnR>
                    <a:lnT w="12700" cap="flat" cmpd="sng" algn="ctr">
                      <a:solidFill>
                        <a:srgbClr val="C9D2CA"/>
                      </a:solidFill>
                      <a:prstDash val="solid"/>
                      <a:round/>
                      <a:headEnd type="none" w="med" len="med"/>
                      <a:tailEnd type="none" w="med" len="med"/>
                    </a:lnT>
                    <a:lnB w="12700" cap="flat" cmpd="sng" algn="ctr">
                      <a:solidFill>
                        <a:srgbClr val="C9D2CA"/>
                      </a:solidFill>
                      <a:prstDash val="solid"/>
                      <a:round/>
                      <a:headEnd type="none" w="med" len="med"/>
                      <a:tailEnd type="none" w="med" len="med"/>
                    </a:lnB>
                    <a:solidFill>
                      <a:srgbClr val="EDF3EE"/>
                    </a:solidFill>
                  </a:tcPr>
                </a:tc>
              </a:tr>
              <a:tr h="754380">
                <a:tc>
                  <a:txBody>
                    <a:bodyPr/>
                    <a:lstStyle/>
                    <a:p>
                      <a:pPr indent="0" marL="0">
                        <a:buNone/>
                      </a:pPr>
                      <a:r>
                        <a:rPr lang="en-US" sz="1400" dirty="0">
                          <a:solidFill>
                            <a:srgbClr val="16302A"/>
                          </a:solidFill>
                          <a:latin typeface="Calibri" pitchFamily="34" charset="0"/>
                          <a:ea typeface="Calibri" pitchFamily="34" charset="-122"/>
                          <a:cs typeface="Calibri" pitchFamily="34" charset="-120"/>
                        </a:rPr>
                        <a:t>Full Grafana / Kubernetes dashboard</a:t>
                      </a:r>
                      <a:endParaRPr lang="en-US" sz="1400" dirty="0">
                        <a:latin typeface="Calibri" charset="0"/>
                        <a:ea typeface="Calibri" charset="0"/>
                        <a:cs typeface="Calibri" charset="0"/>
                      </a:endParaRPr>
                    </a:p>
                  </a:txBody>
                  <a:tcPr marL="127000" marR="127000" marT="101600" marB="101600" anchor="ctr">
                    <a:lnL w="12700" cap="flat" cmpd="sng" algn="ctr">
                      <a:solidFill>
                        <a:srgbClr val="C9D2CA"/>
                      </a:solidFill>
                      <a:prstDash val="solid"/>
                      <a:round/>
                      <a:headEnd type="none" w="med" len="med"/>
                      <a:tailEnd type="none" w="med" len="med"/>
                    </a:lnL>
                    <a:lnR w="12700" cap="flat" cmpd="sng" algn="ctr">
                      <a:solidFill>
                        <a:srgbClr val="C9D2CA"/>
                      </a:solidFill>
                      <a:prstDash val="solid"/>
                      <a:round/>
                      <a:headEnd type="none" w="med" len="med"/>
                      <a:tailEnd type="none" w="med" len="med"/>
                    </a:lnR>
                    <a:lnT w="12700" cap="flat" cmpd="sng" algn="ctr">
                      <a:solidFill>
                        <a:srgbClr val="C9D2CA"/>
                      </a:solidFill>
                      <a:prstDash val="solid"/>
                      <a:round/>
                      <a:headEnd type="none" w="med" len="med"/>
                      <a:tailEnd type="none" w="med" len="med"/>
                    </a:lnT>
                    <a:lnB w="12700" cap="flat" cmpd="sng" algn="ctr">
                      <a:solidFill>
                        <a:srgbClr val="C9D2CA"/>
                      </a:solidFill>
                      <a:prstDash val="solid"/>
                      <a:round/>
                      <a:headEnd type="none" w="med" len="med"/>
                      <a:tailEnd type="none" w="med" len="med"/>
                    </a:lnB>
                  </a:tcPr>
                </a:tc>
                <a:tc>
                  <a:txBody>
                    <a:bodyPr/>
                    <a:lstStyle/>
                    <a:p>
                      <a:pPr indent="0" marL="0">
                        <a:buNone/>
                      </a:pPr>
                      <a:r>
                        <a:rPr lang="en-US" sz="1400" b="1" dirty="0">
                          <a:solidFill>
                            <a:srgbClr val="16302A"/>
                          </a:solidFill>
                          <a:latin typeface="Calibri" pitchFamily="34" charset="0"/>
                          <a:ea typeface="Calibri" pitchFamily="34" charset="-122"/>
                          <a:cs typeface="Calibri" pitchFamily="34" charset="-120"/>
                        </a:rPr>
                        <a:t>MLflow UI + static HTML summary</a:t>
                      </a:r>
                      <a:endParaRPr lang="en-US" sz="1400" dirty="0">
                        <a:latin typeface="Calibri" charset="0"/>
                        <a:ea typeface="Calibri" charset="0"/>
                        <a:cs typeface="Calibri" charset="0"/>
                      </a:endParaRPr>
                    </a:p>
                  </a:txBody>
                  <a:tcPr marL="127000" marR="127000" marT="101600" marB="101600" anchor="ctr">
                    <a:lnL w="12700" cap="flat" cmpd="sng" algn="ctr">
                      <a:solidFill>
                        <a:srgbClr val="C9D2CA"/>
                      </a:solidFill>
                      <a:prstDash val="solid"/>
                      <a:round/>
                      <a:headEnd type="none" w="med" len="med"/>
                      <a:tailEnd type="none" w="med" len="med"/>
                    </a:lnL>
                    <a:lnR w="12700" cap="flat" cmpd="sng" algn="ctr">
                      <a:solidFill>
                        <a:srgbClr val="C9D2CA"/>
                      </a:solidFill>
                      <a:prstDash val="solid"/>
                      <a:round/>
                      <a:headEnd type="none" w="med" len="med"/>
                      <a:tailEnd type="none" w="med" len="med"/>
                    </a:lnR>
                    <a:lnT w="12700" cap="flat" cmpd="sng" algn="ctr">
                      <a:solidFill>
                        <a:srgbClr val="C9D2CA"/>
                      </a:solidFill>
                      <a:prstDash val="solid"/>
                      <a:round/>
                      <a:headEnd type="none" w="med" len="med"/>
                      <a:tailEnd type="none" w="med" len="med"/>
                    </a:lnT>
                    <a:lnB w="12700" cap="flat" cmpd="sng" algn="ctr">
                      <a:solidFill>
                        <a:srgbClr val="C9D2CA"/>
                      </a:solidFill>
                      <a:prstDash val="solid"/>
                      <a:round/>
                      <a:headEnd type="none" w="med" len="med"/>
                      <a:tailEnd type="none" w="med" len="med"/>
                    </a:lnB>
                  </a:tcPr>
                </a:tc>
                <a:tc>
                  <a:txBody>
                    <a:bodyPr/>
                    <a:lstStyle/>
                    <a:p>
                      <a:pPr indent="0" marL="0">
                        <a:buNone/>
                      </a:pPr>
                      <a:r>
                        <a:rPr lang="en-US" sz="1400" dirty="0">
                          <a:solidFill>
                            <a:srgbClr val="16302A"/>
                          </a:solidFill>
                          <a:latin typeface="Calibri" pitchFamily="34" charset="0"/>
                          <a:ea typeface="Calibri" pitchFamily="34" charset="-122"/>
                          <a:cs typeface="Calibri" pitchFamily="34" charset="-120"/>
                        </a:rPr>
                        <a:t>Right-sized for a single-machine case study</a:t>
                      </a:r>
                      <a:endParaRPr lang="en-US" sz="1400" dirty="0">
                        <a:latin typeface="Calibri" charset="0"/>
                        <a:ea typeface="Calibri" charset="0"/>
                        <a:cs typeface="Calibri" charset="0"/>
                      </a:endParaRPr>
                    </a:p>
                  </a:txBody>
                  <a:tcPr marL="127000" marR="127000" marT="101600" marB="101600" anchor="ctr">
                    <a:lnL w="12700" cap="flat" cmpd="sng" algn="ctr">
                      <a:solidFill>
                        <a:srgbClr val="C9D2CA"/>
                      </a:solidFill>
                      <a:prstDash val="solid"/>
                      <a:round/>
                      <a:headEnd type="none" w="med" len="med"/>
                      <a:tailEnd type="none" w="med" len="med"/>
                    </a:lnL>
                    <a:lnR w="12700" cap="flat" cmpd="sng" algn="ctr">
                      <a:solidFill>
                        <a:srgbClr val="C9D2CA"/>
                      </a:solidFill>
                      <a:prstDash val="solid"/>
                      <a:round/>
                      <a:headEnd type="none" w="med" len="med"/>
                      <a:tailEnd type="none" w="med" len="med"/>
                    </a:lnR>
                    <a:lnT w="12700" cap="flat" cmpd="sng" algn="ctr">
                      <a:solidFill>
                        <a:srgbClr val="C9D2CA"/>
                      </a:solidFill>
                      <a:prstDash val="solid"/>
                      <a:round/>
                      <a:headEnd type="none" w="med" len="med"/>
                      <a:tailEnd type="none" w="med" len="med"/>
                    </a:lnT>
                    <a:lnB w="12700" cap="flat" cmpd="sng" algn="ctr">
                      <a:solidFill>
                        <a:srgbClr val="C9D2CA"/>
                      </a:solidFill>
                      <a:prstDash val="solid"/>
                      <a:round/>
                      <a:headEnd type="none" w="med" len="med"/>
                      <a:tailEnd type="none" w="med" len="med"/>
                    </a:lnB>
                  </a:tcPr>
                </a:tc>
              </a:tr>
            </a:tbl>
          </a:graphicData>
        </a:graphic>
      </p:graphicFrame>
      <p:sp>
        <p:nvSpPr>
          <p:cNvPr id="6" name="Text 3"/>
          <p:cNvSpPr txBox="1"/>
          <p:nvPr/>
        </p:nvSpPr>
        <p:spPr>
          <a:xfrm>
            <a:off x="640080" y="6355080"/>
            <a:ext cx="10362895" cy="320040"/>
          </a:xfrm>
          <a:prstGeom prst="rect">
            <a:avLst/>
          </a:prstGeom>
          <a:noFill/>
          <a:ln/>
        </p:spPr>
        <p:txBody>
          <a:bodyPr wrap="square" lIns="0" tIns="0" rIns="0" bIns="0" rtlCol="0" anchor="ctr"/>
          <a:lstStyle/>
          <a:p>
            <a:pPr indent="0" marL="0">
              <a:buNone/>
            </a:pPr>
            <a:r>
              <a:rPr lang="en-US" sz="1050" dirty="0">
                <a:solidFill>
                  <a:srgbClr val="8A9089"/>
                </a:solidFill>
                <a:latin typeface="Calibri" pitchFamily="34" charset="0"/>
                <a:ea typeface="Calibri" pitchFamily="34" charset="-122"/>
                <a:cs typeface="Calibri" pitchFamily="34" charset="-120"/>
              </a:rPr>
              <a:t>Green MLOps Case Study · Nandan Muruli</a:t>
            </a:r>
            <a:endParaRPr lang="en-US" sz="1050" dirty="0"/>
          </a:p>
        </p:txBody>
      </p:sp>
      <p:sp>
        <p:nvSpPr>
          <p:cNvPr id="7" name="Text 4"/>
          <p:cNvSpPr txBox="1"/>
          <p:nvPr/>
        </p:nvSpPr>
        <p:spPr>
          <a:xfrm>
            <a:off x="11002975" y="6355080"/>
            <a:ext cx="548640" cy="320040"/>
          </a:xfrm>
          <a:prstGeom prst="rect">
            <a:avLst/>
          </a:prstGeom>
          <a:noFill/>
          <a:ln/>
        </p:spPr>
        <p:txBody>
          <a:bodyPr wrap="square" lIns="0" tIns="0" rIns="0" bIns="0" rtlCol="0" anchor="ctr"/>
          <a:lstStyle/>
          <a:p>
            <a:pPr algn="r" indent="0" marL="0">
              <a:buNone/>
            </a:pPr>
            <a:r>
              <a:rPr lang="en-US" sz="1050" dirty="0">
                <a:solidFill>
                  <a:srgbClr val="8A9089"/>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2F6F52"/>
                </a:solidFill>
                <a:latin typeface="Calibri" pitchFamily="34" charset="0"/>
                <a:ea typeface="Calibri" pitchFamily="34" charset="-122"/>
                <a:cs typeface="Calibri" pitchFamily="34" charset="-120"/>
              </a:rPr>
              <a:t>IMPLEMENTATION</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2800" b="1" dirty="0">
                <a:solidFill>
                  <a:srgbClr val="16302A"/>
                </a:solidFill>
                <a:latin typeface="Cambria" pitchFamily="34" charset="0"/>
                <a:ea typeface="Cambria" pitchFamily="34" charset="-122"/>
                <a:cs typeface="Cambria" pitchFamily="34" charset="-120"/>
              </a:rPr>
              <a:t>A versioned, resumable pipeline (DVC)</a:t>
            </a:r>
            <a:endParaRPr lang="en-US" sz="2800" dirty="0"/>
          </a:p>
        </p:txBody>
      </p:sp>
      <p:sp>
        <p:nvSpPr>
          <p:cNvPr id="4" name="Shape 2"/>
          <p:cNvSpPr/>
          <p:nvPr/>
        </p:nvSpPr>
        <p:spPr>
          <a:xfrm>
            <a:off x="640080" y="2148840"/>
            <a:ext cx="1765341" cy="777240"/>
          </a:xfrm>
          <a:prstGeom prst="roundRect">
            <a:avLst>
              <a:gd name="adj" fmla="val 10588"/>
            </a:avLst>
          </a:prstGeom>
          <a:solidFill>
            <a:srgbClr val="EDF3EE"/>
          </a:solidFill>
          <a:ln/>
          <a:effectLst>
            <a:outerShdw sx="100000" sy="100000" kx="0" ky="0" algn="bl" rotWithShape="0" blurRad="76200" dist="25400" dir="5400000">
              <a:srgbClr val="000000">
                <a:alpha val="12000"/>
              </a:srgbClr>
            </a:outerShdw>
          </a:effectLst>
        </p:spPr>
      </p:sp>
      <p:sp>
        <p:nvSpPr>
          <p:cNvPr id="5" name="Text 3"/>
          <p:cNvSpPr txBox="1"/>
          <p:nvPr/>
        </p:nvSpPr>
        <p:spPr>
          <a:xfrm>
            <a:off x="640080" y="2148840"/>
            <a:ext cx="1765341" cy="777240"/>
          </a:xfrm>
          <a:prstGeom prst="rect">
            <a:avLst/>
          </a:prstGeom>
          <a:noFill/>
          <a:ln/>
        </p:spPr>
        <p:txBody>
          <a:bodyPr wrap="square" lIns="0" tIns="0" rIns="0" bIns="0" rtlCol="0" anchor="ctr"/>
          <a:lstStyle/>
          <a:p>
            <a:pPr algn="ctr" indent="0" marL="0">
              <a:buNone/>
            </a:pPr>
            <a:r>
              <a:rPr lang="en-US" sz="1300" b="1" dirty="0">
                <a:solidFill>
                  <a:srgbClr val="16302A"/>
                </a:solidFill>
                <a:latin typeface="Calibri" pitchFamily="34" charset="0"/>
                <a:ea typeface="Calibri" pitchFamily="34" charset="-122"/>
                <a:cs typeface="Calibri" pitchFamily="34" charset="-120"/>
              </a:rPr>
              <a:t>ingest</a:t>
            </a:r>
            <a:endParaRPr lang="en-US" sz="1300" dirty="0"/>
          </a:p>
        </p:txBody>
      </p:sp>
      <p:sp>
        <p:nvSpPr>
          <p:cNvPr id="6" name="Text 4"/>
          <p:cNvSpPr txBox="1"/>
          <p:nvPr/>
        </p:nvSpPr>
        <p:spPr>
          <a:xfrm>
            <a:off x="2405421" y="2194560"/>
            <a:ext cx="384048" cy="685800"/>
          </a:xfrm>
          <a:prstGeom prst="rect">
            <a:avLst/>
          </a:prstGeom>
          <a:noFill/>
          <a:ln/>
        </p:spPr>
        <p:txBody>
          <a:bodyPr wrap="square" lIns="0" tIns="0" rIns="0" bIns="0" rtlCol="0" anchor="ctr"/>
          <a:lstStyle/>
          <a:p>
            <a:pPr algn="ctr" indent="0" marL="0">
              <a:buNone/>
            </a:pPr>
            <a:r>
              <a:rPr lang="en-US" sz="2200" dirty="0">
                <a:solidFill>
                  <a:srgbClr val="2F6F52"/>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2926629" y="2148840"/>
            <a:ext cx="1765341" cy="777240"/>
          </a:xfrm>
          <a:prstGeom prst="roundRect">
            <a:avLst>
              <a:gd name="adj" fmla="val 10588"/>
            </a:avLst>
          </a:prstGeom>
          <a:solidFill>
            <a:srgbClr val="EDF3EE"/>
          </a:solidFill>
          <a:ln/>
          <a:effectLst>
            <a:outerShdw sx="100000" sy="100000" kx="0" ky="0" algn="bl" rotWithShape="0" blurRad="76200" dist="25400" dir="5400000">
              <a:srgbClr val="000000">
                <a:alpha val="12000"/>
              </a:srgbClr>
            </a:outerShdw>
          </a:effectLst>
        </p:spPr>
      </p:sp>
      <p:sp>
        <p:nvSpPr>
          <p:cNvPr id="8" name="Text 6"/>
          <p:cNvSpPr txBox="1"/>
          <p:nvPr/>
        </p:nvSpPr>
        <p:spPr>
          <a:xfrm>
            <a:off x="2926629" y="2148840"/>
            <a:ext cx="1765341" cy="777240"/>
          </a:xfrm>
          <a:prstGeom prst="rect">
            <a:avLst/>
          </a:prstGeom>
          <a:noFill/>
          <a:ln/>
        </p:spPr>
        <p:txBody>
          <a:bodyPr wrap="square" lIns="0" tIns="0" rIns="0" bIns="0" rtlCol="0" anchor="ctr"/>
          <a:lstStyle/>
          <a:p>
            <a:pPr algn="ctr" indent="0" marL="0">
              <a:buNone/>
            </a:pPr>
            <a:r>
              <a:rPr lang="en-US" sz="1300" b="1" dirty="0">
                <a:solidFill>
                  <a:srgbClr val="16302A"/>
                </a:solidFill>
                <a:latin typeface="Calibri" pitchFamily="34" charset="0"/>
                <a:ea typeface="Calibri" pitchFamily="34" charset="-122"/>
                <a:cs typeface="Calibri" pitchFamily="34" charset="-120"/>
              </a:rPr>
              <a:t>train_baseline</a:t>
            </a:r>
            <a:endParaRPr lang="en-US" sz="1300" dirty="0"/>
          </a:p>
        </p:txBody>
      </p:sp>
      <p:sp>
        <p:nvSpPr>
          <p:cNvPr id="9" name="Text 7"/>
          <p:cNvSpPr txBox="1"/>
          <p:nvPr/>
        </p:nvSpPr>
        <p:spPr>
          <a:xfrm>
            <a:off x="4691969" y="2194560"/>
            <a:ext cx="384048" cy="685800"/>
          </a:xfrm>
          <a:prstGeom prst="rect">
            <a:avLst/>
          </a:prstGeom>
          <a:noFill/>
          <a:ln/>
        </p:spPr>
        <p:txBody>
          <a:bodyPr wrap="square" lIns="0" tIns="0" rIns="0" bIns="0" rtlCol="0" anchor="ctr"/>
          <a:lstStyle/>
          <a:p>
            <a:pPr algn="ctr" indent="0" marL="0">
              <a:buNone/>
            </a:pPr>
            <a:r>
              <a:rPr lang="en-US" sz="2200" dirty="0">
                <a:solidFill>
                  <a:srgbClr val="2F6F52"/>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213177" y="2148840"/>
            <a:ext cx="1765341" cy="777240"/>
          </a:xfrm>
          <a:prstGeom prst="roundRect">
            <a:avLst>
              <a:gd name="adj" fmla="val 10588"/>
            </a:avLst>
          </a:prstGeom>
          <a:solidFill>
            <a:srgbClr val="EDF3EE"/>
          </a:solidFill>
          <a:ln/>
          <a:effectLst>
            <a:outerShdw sx="100000" sy="100000" kx="0" ky="0" algn="bl" rotWithShape="0" blurRad="76200" dist="25400" dir="5400000">
              <a:srgbClr val="000000">
                <a:alpha val="12000"/>
              </a:srgbClr>
            </a:outerShdw>
          </a:effectLst>
        </p:spPr>
      </p:sp>
      <p:sp>
        <p:nvSpPr>
          <p:cNvPr id="11" name="Text 9"/>
          <p:cNvSpPr txBox="1"/>
          <p:nvPr/>
        </p:nvSpPr>
        <p:spPr>
          <a:xfrm>
            <a:off x="5213177" y="2148840"/>
            <a:ext cx="1765341" cy="777240"/>
          </a:xfrm>
          <a:prstGeom prst="rect">
            <a:avLst/>
          </a:prstGeom>
          <a:noFill/>
          <a:ln/>
        </p:spPr>
        <p:txBody>
          <a:bodyPr wrap="square" lIns="0" tIns="0" rIns="0" bIns="0" rtlCol="0" anchor="ctr"/>
          <a:lstStyle/>
          <a:p>
            <a:pPr algn="ctr" indent="0" marL="0">
              <a:buNone/>
            </a:pPr>
            <a:r>
              <a:rPr lang="en-US" sz="1300" b="1" dirty="0">
                <a:solidFill>
                  <a:srgbClr val="16302A"/>
                </a:solidFill>
                <a:latin typeface="Calibri" pitchFamily="34" charset="0"/>
                <a:ea typeface="Calibri" pitchFamily="34" charset="-122"/>
                <a:cs typeface="Calibri" pitchFamily="34" charset="-120"/>
              </a:rPr>
              <a:t>compress</a:t>
            </a:r>
            <a:endParaRPr lang="en-US" sz="1300" dirty="0"/>
          </a:p>
        </p:txBody>
      </p:sp>
      <p:sp>
        <p:nvSpPr>
          <p:cNvPr id="12" name="Text 10"/>
          <p:cNvSpPr txBox="1"/>
          <p:nvPr/>
        </p:nvSpPr>
        <p:spPr>
          <a:xfrm>
            <a:off x="6978518" y="2194560"/>
            <a:ext cx="384048" cy="685800"/>
          </a:xfrm>
          <a:prstGeom prst="rect">
            <a:avLst/>
          </a:prstGeom>
          <a:noFill/>
          <a:ln/>
        </p:spPr>
        <p:txBody>
          <a:bodyPr wrap="square" lIns="0" tIns="0" rIns="0" bIns="0" rtlCol="0" anchor="ctr"/>
          <a:lstStyle/>
          <a:p>
            <a:pPr algn="ctr" indent="0" marL="0">
              <a:buNone/>
            </a:pPr>
            <a:r>
              <a:rPr lang="en-US" sz="2200" dirty="0">
                <a:solidFill>
                  <a:srgbClr val="2F6F52"/>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7499726" y="2148840"/>
            <a:ext cx="1765341" cy="777240"/>
          </a:xfrm>
          <a:prstGeom prst="roundRect">
            <a:avLst>
              <a:gd name="adj" fmla="val 10588"/>
            </a:avLst>
          </a:prstGeom>
          <a:solidFill>
            <a:srgbClr val="EDF3EE"/>
          </a:solidFill>
          <a:ln/>
          <a:effectLst>
            <a:outerShdw sx="100000" sy="100000" kx="0" ky="0" algn="bl" rotWithShape="0" blurRad="76200" dist="25400" dir="5400000">
              <a:srgbClr val="000000">
                <a:alpha val="12000"/>
              </a:srgbClr>
            </a:outerShdw>
          </a:effectLst>
        </p:spPr>
      </p:sp>
      <p:sp>
        <p:nvSpPr>
          <p:cNvPr id="14" name="Text 12"/>
          <p:cNvSpPr txBox="1"/>
          <p:nvPr/>
        </p:nvSpPr>
        <p:spPr>
          <a:xfrm>
            <a:off x="7499726" y="2148840"/>
            <a:ext cx="1765341" cy="777240"/>
          </a:xfrm>
          <a:prstGeom prst="rect">
            <a:avLst/>
          </a:prstGeom>
          <a:noFill/>
          <a:ln/>
        </p:spPr>
        <p:txBody>
          <a:bodyPr wrap="square" lIns="0" tIns="0" rIns="0" bIns="0" rtlCol="0" anchor="ctr"/>
          <a:lstStyle/>
          <a:p>
            <a:pPr algn="ctr" indent="0" marL="0">
              <a:buNone/>
            </a:pPr>
            <a:r>
              <a:rPr lang="en-US" sz="1300" b="1" dirty="0">
                <a:solidFill>
                  <a:srgbClr val="16302A"/>
                </a:solidFill>
                <a:latin typeface="Calibri" pitchFamily="34" charset="0"/>
                <a:ea typeface="Calibri" pitchFamily="34" charset="-122"/>
                <a:cs typeface="Calibri" pitchFamily="34" charset="-120"/>
              </a:rPr>
              <a:t>rq3_experiments</a:t>
            </a:r>
            <a:endParaRPr lang="en-US" sz="1300" dirty="0"/>
          </a:p>
        </p:txBody>
      </p:sp>
      <p:sp>
        <p:nvSpPr>
          <p:cNvPr id="15" name="Text 13"/>
          <p:cNvSpPr txBox="1"/>
          <p:nvPr/>
        </p:nvSpPr>
        <p:spPr>
          <a:xfrm>
            <a:off x="9265067" y="2194560"/>
            <a:ext cx="384048" cy="685800"/>
          </a:xfrm>
          <a:prstGeom prst="rect">
            <a:avLst/>
          </a:prstGeom>
          <a:noFill/>
          <a:ln/>
        </p:spPr>
        <p:txBody>
          <a:bodyPr wrap="square" lIns="0" tIns="0" rIns="0" bIns="0" rtlCol="0" anchor="ctr"/>
          <a:lstStyle/>
          <a:p>
            <a:pPr algn="ctr" indent="0" marL="0">
              <a:buNone/>
            </a:pPr>
            <a:r>
              <a:rPr lang="en-US" sz="2200" dirty="0">
                <a:solidFill>
                  <a:srgbClr val="2F6F52"/>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9786275" y="2148840"/>
            <a:ext cx="1765341" cy="777240"/>
          </a:xfrm>
          <a:prstGeom prst="roundRect">
            <a:avLst>
              <a:gd name="adj" fmla="val 10588"/>
            </a:avLst>
          </a:prstGeom>
          <a:solidFill>
            <a:srgbClr val="2F6F52"/>
          </a:solidFill>
          <a:ln/>
          <a:effectLst>
            <a:outerShdw sx="100000" sy="100000" kx="0" ky="0" algn="bl" rotWithShape="0" blurRad="76200" dist="25400" dir="5400000">
              <a:srgbClr val="000000">
                <a:alpha val="12000"/>
              </a:srgbClr>
            </a:outerShdw>
          </a:effectLst>
        </p:spPr>
      </p:sp>
      <p:sp>
        <p:nvSpPr>
          <p:cNvPr id="17" name="Text 15"/>
          <p:cNvSpPr txBox="1"/>
          <p:nvPr/>
        </p:nvSpPr>
        <p:spPr>
          <a:xfrm>
            <a:off x="9786275" y="2148840"/>
            <a:ext cx="1765341"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18" name="Shape 16"/>
          <p:cNvSpPr/>
          <p:nvPr/>
        </p:nvSpPr>
        <p:spPr>
          <a:xfrm>
            <a:off x="640080" y="3291840"/>
            <a:ext cx="5318608" cy="2011680"/>
          </a:xfrm>
          <a:prstGeom prst="roundRect">
            <a:avLst>
              <a:gd name="adj" fmla="val 4091"/>
            </a:avLst>
          </a:prstGeom>
          <a:solidFill>
            <a:srgbClr val="1E4438"/>
          </a:solidFill>
          <a:ln/>
          <a:effectLst>
            <a:outerShdw sx="100000" sy="100000" kx="0" ky="0" algn="bl" rotWithShape="0" blurRad="76200" dist="25400" dir="5400000">
              <a:srgbClr val="000000">
                <a:alpha val="12000"/>
              </a:srgbClr>
            </a:outerShdw>
          </a:effectLst>
        </p:spPr>
      </p:sp>
      <p:sp>
        <p:nvSpPr>
          <p:cNvPr id="19" name="Text 17"/>
          <p:cNvSpPr txBox="1"/>
          <p:nvPr/>
        </p:nvSpPr>
        <p:spPr>
          <a:xfrm>
            <a:off x="914400" y="3493008"/>
            <a:ext cx="4769968" cy="411480"/>
          </a:xfrm>
          <a:prstGeom prst="rect">
            <a:avLst/>
          </a:prstGeom>
          <a:noFill/>
          <a:ln/>
        </p:spPr>
        <p:txBody>
          <a:bodyPr wrap="square" lIns="0" tIns="0" rIns="0" bIns="0" rtlCol="0" anchor="ctr"/>
          <a:lstStyle/>
          <a:p>
            <a:pPr indent="0" marL="0">
              <a:buNone/>
            </a:pPr>
            <a:r>
              <a:rPr lang="en-US" sz="1700" b="1" dirty="0">
                <a:solidFill>
                  <a:srgbClr val="8FBF9F"/>
                </a:solidFill>
                <a:latin typeface="Cambria" pitchFamily="34" charset="0"/>
                <a:ea typeface="Cambria" pitchFamily="34" charset="-122"/>
                <a:cs typeface="Cambria" pitchFamily="34" charset="-120"/>
              </a:rPr>
              <a:t>Change-aware reruns</a:t>
            </a:r>
            <a:endParaRPr lang="en-US" sz="1700" dirty="0"/>
          </a:p>
        </p:txBody>
      </p:sp>
      <p:sp>
        <p:nvSpPr>
          <p:cNvPr id="20" name="Text 18"/>
          <p:cNvSpPr txBox="1"/>
          <p:nvPr/>
        </p:nvSpPr>
        <p:spPr>
          <a:xfrm>
            <a:off x="914400" y="3977640"/>
            <a:ext cx="4769968" cy="114300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Each stage declares its own deps and outs, so dvc repro only re-runs a stage — and everything downstream — when its dependencies actually changed.</a:t>
            </a:r>
            <a:endParaRPr lang="en-US" sz="1450" dirty="0"/>
          </a:p>
        </p:txBody>
      </p:sp>
      <p:sp>
        <p:nvSpPr>
          <p:cNvPr id="21" name="Shape 19"/>
          <p:cNvSpPr/>
          <p:nvPr/>
        </p:nvSpPr>
        <p:spPr>
          <a:xfrm>
            <a:off x="6233008" y="3291840"/>
            <a:ext cx="5318608" cy="2011680"/>
          </a:xfrm>
          <a:prstGeom prst="roundRect">
            <a:avLst>
              <a:gd name="adj" fmla="val 4091"/>
            </a:avLst>
          </a:prstGeom>
          <a:solidFill>
            <a:srgbClr val="1E4438"/>
          </a:solidFill>
          <a:ln/>
          <a:effectLst>
            <a:outerShdw sx="100000" sy="100000" kx="0" ky="0" algn="bl" rotWithShape="0" blurRad="76200" dist="25400" dir="5400000">
              <a:srgbClr val="000000">
                <a:alpha val="12000"/>
              </a:srgbClr>
            </a:outerShdw>
          </a:effectLst>
        </p:spPr>
      </p:sp>
      <p:sp>
        <p:nvSpPr>
          <p:cNvPr id="22" name="Text 20"/>
          <p:cNvSpPr txBox="1"/>
          <p:nvPr/>
        </p:nvSpPr>
        <p:spPr>
          <a:xfrm>
            <a:off x="6507328" y="3493008"/>
            <a:ext cx="4769968" cy="411480"/>
          </a:xfrm>
          <a:prstGeom prst="rect">
            <a:avLst/>
          </a:prstGeom>
          <a:noFill/>
          <a:ln/>
        </p:spPr>
        <p:txBody>
          <a:bodyPr wrap="square" lIns="0" tIns="0" rIns="0" bIns="0" rtlCol="0" anchor="ctr"/>
          <a:lstStyle/>
          <a:p>
            <a:pPr indent="0" marL="0">
              <a:buNone/>
            </a:pPr>
            <a:r>
              <a:rPr lang="en-US" sz="1700" b="1" dirty="0">
                <a:solidFill>
                  <a:srgbClr val="8FBF9F"/>
                </a:solidFill>
                <a:latin typeface="Cambria" pitchFamily="34" charset="0"/>
                <a:ea typeface="Cambria" pitchFamily="34" charset="-122"/>
                <a:cs typeface="Cambria" pitchFamily="34" charset="-120"/>
              </a:rPr>
              <a:t>One config file</a:t>
            </a:r>
            <a:endParaRPr lang="en-US" sz="1700" dirty="0"/>
          </a:p>
        </p:txBody>
      </p:sp>
      <p:sp>
        <p:nvSpPr>
          <p:cNvPr id="23" name="Text 21"/>
          <p:cNvSpPr txBox="1"/>
          <p:nvPr/>
        </p:nvSpPr>
        <p:spPr>
          <a:xfrm>
            <a:off x="6507328" y="3977640"/>
            <a:ext cx="4769968" cy="114300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Dataset sizes, model name, hyperparameters, SLA threshold, thread caps — all in configs/config.yaml, never hardcoded per script.</a:t>
            </a:r>
            <a:endParaRPr lang="en-US" sz="1450" dirty="0"/>
          </a:p>
        </p:txBody>
      </p:sp>
      <p:sp>
        <p:nvSpPr>
          <p:cNvPr id="24" name="Text 22"/>
          <p:cNvSpPr txBox="1"/>
          <p:nvPr/>
        </p:nvSpPr>
        <p:spPr>
          <a:xfrm>
            <a:off x="640080" y="6355080"/>
            <a:ext cx="10362895" cy="320040"/>
          </a:xfrm>
          <a:prstGeom prst="rect">
            <a:avLst/>
          </a:prstGeom>
          <a:noFill/>
          <a:ln/>
        </p:spPr>
        <p:txBody>
          <a:bodyPr wrap="square" lIns="0" tIns="0" rIns="0" bIns="0" rtlCol="0" anchor="ctr"/>
          <a:lstStyle/>
          <a:p>
            <a:pPr indent="0" marL="0">
              <a:buNone/>
            </a:pPr>
            <a:r>
              <a:rPr lang="en-US" sz="1050" dirty="0">
                <a:solidFill>
                  <a:srgbClr val="8A9089"/>
                </a:solidFill>
                <a:latin typeface="Calibri" pitchFamily="34" charset="0"/>
                <a:ea typeface="Calibri" pitchFamily="34" charset="-122"/>
                <a:cs typeface="Calibri" pitchFamily="34" charset="-120"/>
              </a:rPr>
              <a:t>Green MLOps Case Study · Nandan Muruli</a:t>
            </a:r>
            <a:endParaRPr lang="en-US" sz="1050" dirty="0"/>
          </a:p>
        </p:txBody>
      </p:sp>
      <p:sp>
        <p:nvSpPr>
          <p:cNvPr id="25" name="Text 23"/>
          <p:cNvSpPr txBox="1"/>
          <p:nvPr/>
        </p:nvSpPr>
        <p:spPr>
          <a:xfrm>
            <a:off x="11002975" y="6355080"/>
            <a:ext cx="548640" cy="320040"/>
          </a:xfrm>
          <a:prstGeom prst="rect">
            <a:avLst/>
          </a:prstGeom>
          <a:noFill/>
          <a:ln/>
        </p:spPr>
        <p:txBody>
          <a:bodyPr wrap="square" lIns="0" tIns="0" rIns="0" bIns="0" rtlCol="0" anchor="ctr"/>
          <a:lstStyle/>
          <a:p>
            <a:pPr algn="r" indent="0" marL="0">
              <a:buNone/>
            </a:pPr>
            <a:r>
              <a:rPr lang="en-US" sz="1050" dirty="0">
                <a:solidFill>
                  <a:srgbClr val="8A9089"/>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2F6F52"/>
                </a:solidFill>
                <a:latin typeface="Calibri" pitchFamily="34" charset="0"/>
                <a:ea typeface="Calibri" pitchFamily="34" charset="-122"/>
                <a:cs typeface="Calibri" pitchFamily="34" charset="-120"/>
              </a:rPr>
              <a:t>IMPLEMENTATION · RQ1</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2800" b="1" dirty="0">
                <a:solidFill>
                  <a:srgbClr val="16302A"/>
                </a:solidFill>
                <a:latin typeface="Cambria" pitchFamily="34" charset="0"/>
                <a:ea typeface="Cambria" pitchFamily="34" charset="-122"/>
                <a:cs typeface="Cambria" pitchFamily="34" charset="-120"/>
              </a:rPr>
              <a:t>Telemetry in one line: GreenTracker</a:t>
            </a:r>
            <a:endParaRPr lang="en-US" sz="2800" dirty="0"/>
          </a:p>
        </p:txBody>
      </p:sp>
      <p:sp>
        <p:nvSpPr>
          <p:cNvPr id="4" name="Shape 2"/>
          <p:cNvSpPr/>
          <p:nvPr/>
        </p:nvSpPr>
        <p:spPr>
          <a:xfrm>
            <a:off x="640080" y="2148840"/>
            <a:ext cx="5507578" cy="3840480"/>
          </a:xfrm>
          <a:prstGeom prst="roundRect">
            <a:avLst>
              <a:gd name="adj" fmla="val 2143"/>
            </a:avLst>
          </a:prstGeom>
          <a:solidFill>
            <a:srgbClr val="16302A"/>
          </a:solidFill>
          <a:ln/>
          <a:effectLst>
            <a:outerShdw sx="100000" sy="100000" kx="0" ky="0" algn="bl" rotWithShape="0" blurRad="76200" dist="25400" dir="5400000">
              <a:srgbClr val="000000">
                <a:alpha val="12000"/>
              </a:srgbClr>
            </a:outerShdw>
          </a:effectLst>
        </p:spPr>
      </p:sp>
      <p:sp>
        <p:nvSpPr>
          <p:cNvPr id="5" name="Text 3"/>
          <p:cNvSpPr txBox="1"/>
          <p:nvPr/>
        </p:nvSpPr>
        <p:spPr>
          <a:xfrm>
            <a:off x="960120" y="2468880"/>
            <a:ext cx="4867498" cy="3200400"/>
          </a:xfrm>
          <a:prstGeom prst="rect">
            <a:avLst/>
          </a:prstGeom>
          <a:noFill/>
          <a:ln/>
        </p:spPr>
        <p:txBody>
          <a:bodyPr wrap="square" lIns="0" tIns="0" rIns="0" bIns="0" rtlCol="0" anchor="t"/>
          <a:lstStyle/>
          <a:p>
            <a:pPr indent="0" marL="0">
              <a:lnSpc>
                <a:spcPct val="135000"/>
              </a:lnSpc>
              <a:buNone/>
            </a:pPr>
            <a:r>
              <a:rPr lang="en-US" sz="1500" dirty="0">
                <a:solidFill>
                  <a:srgbClr val="D7E4DA"/>
                </a:solidFill>
                <a:latin typeface="Courier New" pitchFamily="34" charset="0"/>
                <a:ea typeface="Courier New" pitchFamily="34" charset="-122"/>
                <a:cs typeface="Courier New" pitchFamily="34" charset="-120"/>
              </a:rPr>
              <a:t>with GreenTracker(project_name="green_mlops"):</a:t>
            </a:r>
            <a:endParaRPr lang="en-US" sz="1500" dirty="0"/>
          </a:p>
          <a:p>
            <a:pPr indent="0" marL="0">
              <a:lnSpc>
                <a:spcPct val="135000"/>
              </a:lnSpc>
              <a:buNone/>
            </a:pPr>
            <a:r>
              <a:rPr lang="en-US" sz="1500" dirty="0">
                <a:solidFill>
                  <a:srgbClr val="D7E4DA"/>
                </a:solidFill>
                <a:latin typeface="Courier New" pitchFamily="34" charset="0"/>
                <a:ea typeface="Courier New" pitchFamily="34" charset="-122"/>
                <a:cs typeface="Courier New" pitchFamily="34" charset="-120"/>
              </a:rPr>
              <a:t>    trainer.train()</a:t>
            </a:r>
            <a:endParaRPr lang="en-US" sz="1500" dirty="0"/>
          </a:p>
          <a:p>
            <a:pPr indent="0" marL="0">
              <a:lnSpc>
                <a:spcPct val="135000"/>
              </a:lnSpc>
              <a:buNone/>
            </a:pPr>
            <a:endParaRPr lang="en-US" sz="1500" dirty="0"/>
          </a:p>
          <a:p>
            <a:pPr indent="0" marL="0">
              <a:lnSpc>
                <a:spcPct val="135000"/>
              </a:lnSpc>
              <a:buNone/>
            </a:pPr>
            <a:r>
              <a:rPr lang="en-US" sz="1500" dirty="0">
                <a:solidFill>
                  <a:srgbClr val="D7E4DA"/>
                </a:solidFill>
                <a:latin typeface="Courier New" pitchFamily="34" charset="0"/>
                <a:ea typeface="Courier New" pitchFamily="34" charset="-122"/>
                <a:cs typeface="Courier New" pitchFamily="34" charset="-120"/>
              </a:rPr>
              <a:t># inside __exit__:</a:t>
            </a:r>
            <a:endParaRPr lang="en-US" sz="1500" dirty="0"/>
          </a:p>
          <a:p>
            <a:pPr indent="0" marL="0">
              <a:lnSpc>
                <a:spcPct val="135000"/>
              </a:lnSpc>
              <a:buNone/>
            </a:pPr>
            <a:r>
              <a:rPr lang="en-US" sz="1500" dirty="0">
                <a:solidFill>
                  <a:srgbClr val="D7E4DA"/>
                </a:solidFill>
                <a:latin typeface="Courier New" pitchFamily="34" charset="0"/>
                <a:ea typeface="Courier New" pitchFamily="34" charset="-122"/>
                <a:cs typeface="Courier New" pitchFamily="34" charset="-120"/>
              </a:rPr>
              <a:t>emissions = self.tracker.stop()</a:t>
            </a:r>
            <a:endParaRPr lang="en-US" sz="1500" dirty="0"/>
          </a:p>
          <a:p>
            <a:pPr indent="0" marL="0">
              <a:lnSpc>
                <a:spcPct val="135000"/>
              </a:lnSpc>
              <a:buNone/>
            </a:pPr>
            <a:r>
              <a:rPr lang="en-US" sz="1500" dirty="0">
                <a:solidFill>
                  <a:srgbClr val="D7E4DA"/>
                </a:solidFill>
                <a:latin typeface="Courier New" pitchFamily="34" charset="0"/>
                <a:ea typeface="Courier New" pitchFamily="34" charset="-122"/>
                <a:cs typeface="Courier New" pitchFamily="34" charset="-120"/>
              </a:rPr>
              <a:t>if mlflow.active_run():</a:t>
            </a:r>
            <a:endParaRPr lang="en-US" sz="1500" dirty="0"/>
          </a:p>
          <a:p>
            <a:pPr indent="0" marL="0">
              <a:lnSpc>
                <a:spcPct val="135000"/>
              </a:lnSpc>
              <a:buNone/>
            </a:pPr>
            <a:r>
              <a:rPr lang="en-US" sz="1500" dirty="0">
                <a:solidFill>
                  <a:srgbClr val="D7E4DA"/>
                </a:solidFill>
                <a:latin typeface="Courier New" pitchFamily="34" charset="0"/>
                <a:ea typeface="Courier New" pitchFamily="34" charset="-122"/>
                <a:cs typeface="Courier New" pitchFamily="34" charset="-120"/>
              </a:rPr>
              <a:t>    mlflow.log_metric(</a:t>
            </a:r>
            <a:endParaRPr lang="en-US" sz="1500" dirty="0"/>
          </a:p>
          <a:p>
            <a:pPr indent="0" marL="0">
              <a:lnSpc>
                <a:spcPct val="135000"/>
              </a:lnSpc>
              <a:buNone/>
            </a:pPr>
            <a:r>
              <a:rPr lang="en-US" sz="1500" dirty="0">
                <a:solidFill>
                  <a:srgbClr val="D7E4DA"/>
                </a:solidFill>
                <a:latin typeface="Courier New" pitchFamily="34" charset="0"/>
                <a:ea typeface="Courier New" pitchFamily="34" charset="-122"/>
                <a:cs typeface="Courier New" pitchFamily="34" charset="-120"/>
              </a:rPr>
              <a:t>        "carbon_footprint_kg_CO2e",</a:t>
            </a:r>
            <a:endParaRPr lang="en-US" sz="1500" dirty="0"/>
          </a:p>
          <a:p>
            <a:pPr indent="0" marL="0">
              <a:lnSpc>
                <a:spcPct val="135000"/>
              </a:lnSpc>
              <a:buNone/>
            </a:pPr>
            <a:r>
              <a:rPr lang="en-US" sz="1500" dirty="0">
                <a:solidFill>
                  <a:srgbClr val="D7E4DA"/>
                </a:solidFill>
                <a:latin typeface="Courier New" pitchFamily="34" charset="0"/>
                <a:ea typeface="Courier New" pitchFamily="34" charset="-122"/>
                <a:cs typeface="Courier New" pitchFamily="34" charset="-120"/>
              </a:rPr>
              <a:t>        emissions)</a:t>
            </a:r>
            <a:endParaRPr lang="en-US" sz="1500" dirty="0"/>
          </a:p>
        </p:txBody>
      </p:sp>
      <p:sp>
        <p:nvSpPr>
          <p:cNvPr id="6" name="Shape 4"/>
          <p:cNvSpPr/>
          <p:nvPr/>
        </p:nvSpPr>
        <p:spPr>
          <a:xfrm>
            <a:off x="6467698" y="2331720"/>
            <a:ext cx="310896" cy="310896"/>
          </a:xfrm>
          <a:prstGeom prst="ellipse">
            <a:avLst/>
          </a:prstGeom>
          <a:solidFill>
            <a:srgbClr val="2F6F52"/>
          </a:solidFill>
          <a:ln/>
        </p:spPr>
      </p:sp>
      <p:sp>
        <p:nvSpPr>
          <p:cNvPr id="7" name="Text 5"/>
          <p:cNvSpPr txBox="1"/>
          <p:nvPr/>
        </p:nvSpPr>
        <p:spPr>
          <a:xfrm>
            <a:off x="6467698" y="233172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6"/>
          <p:cNvSpPr txBox="1"/>
          <p:nvPr/>
        </p:nvSpPr>
        <p:spPr>
          <a:xfrm>
            <a:off x="6924898" y="2286000"/>
            <a:ext cx="4626718" cy="1097280"/>
          </a:xfrm>
          <a:prstGeom prst="rect">
            <a:avLst/>
          </a:prstGeom>
          <a:noFill/>
          <a:ln/>
        </p:spPr>
        <p:txBody>
          <a:bodyPr wrap="square" lIns="0" tIns="0" rIns="0" bIns="0" rtlCol="0" anchor="t"/>
          <a:lstStyle/>
          <a:p>
            <a:pPr indent="0" marL="0">
              <a:buNone/>
            </a:pPr>
            <a:r>
              <a:rPr lang="en-US" sz="1550" dirty="0">
                <a:solidFill>
                  <a:srgbClr val="16302A"/>
                </a:solidFill>
                <a:latin typeface="Calibri" pitchFamily="34" charset="0"/>
                <a:ea typeface="Calibri" pitchFamily="34" charset="-122"/>
                <a:cs typeface="Calibri" pitchFamily="34" charset="-120"/>
              </a:rPr>
              <a:t>Wraps CodeCarbon's EmissionsTracker as a Python context manager</a:t>
            </a:r>
            <a:endParaRPr lang="en-US" sz="1550" dirty="0"/>
          </a:p>
        </p:txBody>
      </p:sp>
      <p:sp>
        <p:nvSpPr>
          <p:cNvPr id="9" name="Shape 7"/>
          <p:cNvSpPr/>
          <p:nvPr/>
        </p:nvSpPr>
        <p:spPr>
          <a:xfrm>
            <a:off x="6467698" y="3566160"/>
            <a:ext cx="310896" cy="310896"/>
          </a:xfrm>
          <a:prstGeom prst="ellipse">
            <a:avLst/>
          </a:prstGeom>
          <a:solidFill>
            <a:srgbClr val="2F6F52"/>
          </a:solidFill>
          <a:ln/>
        </p:spPr>
      </p:sp>
      <p:sp>
        <p:nvSpPr>
          <p:cNvPr id="10" name="Text 8"/>
          <p:cNvSpPr txBox="1"/>
          <p:nvPr/>
        </p:nvSpPr>
        <p:spPr>
          <a:xfrm>
            <a:off x="6467698" y="356616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1" name="Text 9"/>
          <p:cNvSpPr txBox="1"/>
          <p:nvPr/>
        </p:nvSpPr>
        <p:spPr>
          <a:xfrm>
            <a:off x="6924898" y="3520440"/>
            <a:ext cx="4626718" cy="1097280"/>
          </a:xfrm>
          <a:prstGeom prst="rect">
            <a:avLst/>
          </a:prstGeom>
          <a:noFill/>
          <a:ln/>
        </p:spPr>
        <p:txBody>
          <a:bodyPr wrap="square" lIns="0" tIns="0" rIns="0" bIns="0" rtlCol="0" anchor="t"/>
          <a:lstStyle/>
          <a:p>
            <a:pPr indent="0" marL="0">
              <a:buNone/>
            </a:pPr>
            <a:r>
              <a:rPr lang="en-US" sz="1550" dirty="0">
                <a:solidFill>
                  <a:srgbClr val="16302A"/>
                </a:solidFill>
                <a:latin typeface="Calibri" pitchFamily="34" charset="0"/>
                <a:ea typeface="Calibri" pitchFamily="34" charset="-122"/>
                <a:cs typeface="Calibri" pitchFamily="34" charset="-120"/>
              </a:rPr>
              <a:t>Auto-logs the emissions figure to the active MLflow run — no separate logging call needed</a:t>
            </a:r>
            <a:endParaRPr lang="en-US" sz="1550" dirty="0"/>
          </a:p>
        </p:txBody>
      </p:sp>
      <p:sp>
        <p:nvSpPr>
          <p:cNvPr id="12" name="Shape 10"/>
          <p:cNvSpPr/>
          <p:nvPr/>
        </p:nvSpPr>
        <p:spPr>
          <a:xfrm>
            <a:off x="6467698" y="4800600"/>
            <a:ext cx="310896" cy="310896"/>
          </a:xfrm>
          <a:prstGeom prst="ellipse">
            <a:avLst/>
          </a:prstGeom>
          <a:solidFill>
            <a:srgbClr val="2F6F52"/>
          </a:solidFill>
          <a:ln/>
        </p:spPr>
      </p:sp>
      <p:sp>
        <p:nvSpPr>
          <p:cNvPr id="13" name="Text 11"/>
          <p:cNvSpPr txBox="1"/>
          <p:nvPr/>
        </p:nvSpPr>
        <p:spPr>
          <a:xfrm>
            <a:off x="6467698" y="4800600"/>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4" name="Text 12"/>
          <p:cNvSpPr txBox="1"/>
          <p:nvPr/>
        </p:nvSpPr>
        <p:spPr>
          <a:xfrm>
            <a:off x="6924898" y="4754880"/>
            <a:ext cx="4626718" cy="1097280"/>
          </a:xfrm>
          <a:prstGeom prst="rect">
            <a:avLst/>
          </a:prstGeom>
          <a:noFill/>
          <a:ln/>
        </p:spPr>
        <p:txBody>
          <a:bodyPr wrap="square" lIns="0" tIns="0" rIns="0" bIns="0" rtlCol="0" anchor="t"/>
          <a:lstStyle/>
          <a:p>
            <a:pPr indent="0" marL="0">
              <a:buNone/>
            </a:pPr>
            <a:r>
              <a:rPr lang="en-US" sz="1550" dirty="0">
                <a:solidFill>
                  <a:srgbClr val="16302A"/>
                </a:solidFill>
                <a:latin typeface="Calibri" pitchFamily="34" charset="0"/>
                <a:ea typeface="Calibri" pitchFamily="34" charset="-122"/>
                <a:cs typeface="Calibri" pitchFamily="34" charset="-120"/>
              </a:rPr>
              <a:t>Zero changes to the training loop, model code, or existing MLflow calls</a:t>
            </a:r>
            <a:endParaRPr lang="en-US" sz="1550" dirty="0"/>
          </a:p>
        </p:txBody>
      </p:sp>
      <p:sp>
        <p:nvSpPr>
          <p:cNvPr id="15" name="Text 13"/>
          <p:cNvSpPr txBox="1"/>
          <p:nvPr/>
        </p:nvSpPr>
        <p:spPr>
          <a:xfrm>
            <a:off x="640080" y="6355080"/>
            <a:ext cx="10362895" cy="320040"/>
          </a:xfrm>
          <a:prstGeom prst="rect">
            <a:avLst/>
          </a:prstGeom>
          <a:noFill/>
          <a:ln/>
        </p:spPr>
        <p:txBody>
          <a:bodyPr wrap="square" lIns="0" tIns="0" rIns="0" bIns="0" rtlCol="0" anchor="ctr"/>
          <a:lstStyle/>
          <a:p>
            <a:pPr indent="0" marL="0">
              <a:buNone/>
            </a:pPr>
            <a:r>
              <a:rPr lang="en-US" sz="1050" dirty="0">
                <a:solidFill>
                  <a:srgbClr val="8A9089"/>
                </a:solidFill>
                <a:latin typeface="Calibri" pitchFamily="34" charset="0"/>
                <a:ea typeface="Calibri" pitchFamily="34" charset="-122"/>
                <a:cs typeface="Calibri" pitchFamily="34" charset="-120"/>
              </a:rPr>
              <a:t>Green MLOps Case Study · Nandan Muruli</a:t>
            </a:r>
            <a:endParaRPr lang="en-US" sz="1050" dirty="0"/>
          </a:p>
        </p:txBody>
      </p:sp>
      <p:sp>
        <p:nvSpPr>
          <p:cNvPr id="16" name="Text 14"/>
          <p:cNvSpPr txBox="1"/>
          <p:nvPr/>
        </p:nvSpPr>
        <p:spPr>
          <a:xfrm>
            <a:off x="11002975" y="6355080"/>
            <a:ext cx="548640" cy="320040"/>
          </a:xfrm>
          <a:prstGeom prst="rect">
            <a:avLst/>
          </a:prstGeom>
          <a:noFill/>
          <a:ln/>
        </p:spPr>
        <p:txBody>
          <a:bodyPr wrap="square" lIns="0" tIns="0" rIns="0" bIns="0" rtlCol="0" anchor="ctr"/>
          <a:lstStyle/>
          <a:p>
            <a:pPr algn="r" indent="0" marL="0">
              <a:buNone/>
            </a:pPr>
            <a:r>
              <a:rPr lang="en-US" sz="1050" dirty="0">
                <a:solidFill>
                  <a:srgbClr val="8A9089"/>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2F6F52"/>
                </a:solidFill>
                <a:latin typeface="Calibri" pitchFamily="34" charset="0"/>
                <a:ea typeface="Calibri" pitchFamily="34" charset="-122"/>
                <a:cs typeface="Calibri" pitchFamily="34" charset="-120"/>
              </a:rPr>
              <a:t>IMPLEMENTATION</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2800" b="1" dirty="0">
                <a:solidFill>
                  <a:srgbClr val="16302A"/>
                </a:solidFill>
                <a:latin typeface="Cambria" pitchFamily="34" charset="0"/>
                <a:ea typeface="Cambria" pitchFamily="34" charset="-122"/>
                <a:cs typeface="Cambria" pitchFamily="34" charset="-120"/>
              </a:rPr>
              <a:t>One evaluation harness, tested continuously</a:t>
            </a:r>
            <a:endParaRPr lang="en-US" sz="2800" dirty="0"/>
          </a:p>
        </p:txBody>
      </p:sp>
      <p:sp>
        <p:nvSpPr>
          <p:cNvPr id="4" name="Shape 2"/>
          <p:cNvSpPr/>
          <p:nvPr/>
        </p:nvSpPr>
        <p:spPr>
          <a:xfrm>
            <a:off x="640080" y="2286000"/>
            <a:ext cx="3466490" cy="2743200"/>
          </a:xfrm>
          <a:prstGeom prst="roundRect">
            <a:avLst>
              <a:gd name="adj" fmla="val 3000"/>
            </a:avLst>
          </a:prstGeom>
          <a:solidFill>
            <a:srgbClr val="EDF3EE"/>
          </a:solidFill>
          <a:ln/>
          <a:effectLst>
            <a:outerShdw sx="100000" sy="100000" kx="0" ky="0" algn="bl" rotWithShape="0" blurRad="76200" dist="25400" dir="5400000">
              <a:srgbClr val="000000">
                <a:alpha val="12000"/>
              </a:srgbClr>
            </a:outerShdw>
          </a:effectLst>
        </p:spPr>
      </p:sp>
      <p:sp>
        <p:nvSpPr>
          <p:cNvPr id="5" name="Text 3"/>
          <p:cNvSpPr txBox="1"/>
          <p:nvPr/>
        </p:nvSpPr>
        <p:spPr>
          <a:xfrm>
            <a:off x="896112" y="2542032"/>
            <a:ext cx="2954426" cy="548640"/>
          </a:xfrm>
          <a:prstGeom prst="rect">
            <a:avLst/>
          </a:prstGeom>
          <a:noFill/>
          <a:ln/>
        </p:spPr>
        <p:txBody>
          <a:bodyPr wrap="square" lIns="0" tIns="0" rIns="0" bIns="0" rtlCol="0" anchor="ctr"/>
          <a:lstStyle/>
          <a:p>
            <a:pPr indent="0" marL="0">
              <a:buNone/>
            </a:pPr>
            <a:r>
              <a:rPr lang="en-US" sz="1700" b="1" dirty="0">
                <a:solidFill>
                  <a:srgbClr val="16302A"/>
                </a:solidFill>
                <a:latin typeface="Cambria" pitchFamily="34" charset="0"/>
                <a:ea typeface="Cambria" pitchFamily="34" charset="-122"/>
                <a:cs typeface="Cambria" pitchFamily="34" charset="-120"/>
              </a:rPr>
              <a:t>Shared evaluate_model()</a:t>
            </a:r>
            <a:endParaRPr lang="en-US" sz="1700" dirty="0"/>
          </a:p>
        </p:txBody>
      </p:sp>
      <p:sp>
        <p:nvSpPr>
          <p:cNvPr id="6" name="Text 4"/>
          <p:cNvSpPr txBox="1"/>
          <p:nvPr/>
        </p:nvSpPr>
        <p:spPr>
          <a:xfrm>
            <a:off x="896112" y="3154680"/>
            <a:ext cx="2954426" cy="1645920"/>
          </a:xfrm>
          <a:prstGeom prst="rect">
            <a:avLst/>
          </a:prstGeom>
          <a:noFill/>
          <a:ln/>
        </p:spPr>
        <p:txBody>
          <a:bodyPr wrap="square" lIns="0" tIns="0" rIns="0" bIns="0" rtlCol="0" anchor="t"/>
          <a:lstStyle/>
          <a:p>
            <a:pPr indent="0" marL="0">
              <a:buNone/>
            </a:pPr>
            <a:r>
              <a:rPr lang="en-US" sz="1400" dirty="0">
                <a:solidFill>
                  <a:srgbClr val="4A5A52"/>
                </a:solidFill>
                <a:latin typeface="Calibri" pitchFamily="34" charset="0"/>
                <a:ea typeface="Calibri" pitchFamily="34" charset="-122"/>
                <a:cs typeface="Calibri" pitchFamily="34" charset="-120"/>
              </a:rPr>
              <a:t>RQ2 and RQ3a both call the same evaluation routine, so latency comparisons aren't confounded by different measurement code.</a:t>
            </a:r>
            <a:endParaRPr lang="en-US" sz="1400" dirty="0"/>
          </a:p>
        </p:txBody>
      </p:sp>
      <p:sp>
        <p:nvSpPr>
          <p:cNvPr id="7" name="Shape 5"/>
          <p:cNvSpPr/>
          <p:nvPr/>
        </p:nvSpPr>
        <p:spPr>
          <a:xfrm>
            <a:off x="4362602" y="2286000"/>
            <a:ext cx="3466490" cy="2743200"/>
          </a:xfrm>
          <a:prstGeom prst="roundRect">
            <a:avLst>
              <a:gd name="adj" fmla="val 3000"/>
            </a:avLst>
          </a:prstGeom>
          <a:solidFill>
            <a:srgbClr val="EDF3EE"/>
          </a:solidFill>
          <a:ln/>
          <a:effectLst>
            <a:outerShdw sx="100000" sy="100000" kx="0" ky="0" algn="bl" rotWithShape="0" blurRad="76200" dist="25400" dir="5400000">
              <a:srgbClr val="000000">
                <a:alpha val="12000"/>
              </a:srgbClr>
            </a:outerShdw>
          </a:effectLst>
        </p:spPr>
      </p:sp>
      <p:sp>
        <p:nvSpPr>
          <p:cNvPr id="8" name="Text 6"/>
          <p:cNvSpPr txBox="1"/>
          <p:nvPr/>
        </p:nvSpPr>
        <p:spPr>
          <a:xfrm>
            <a:off x="4618634" y="2542032"/>
            <a:ext cx="2954426" cy="548640"/>
          </a:xfrm>
          <a:prstGeom prst="rect">
            <a:avLst/>
          </a:prstGeom>
          <a:noFill/>
          <a:ln/>
        </p:spPr>
        <p:txBody>
          <a:bodyPr wrap="square" lIns="0" tIns="0" rIns="0" bIns="0" rtlCol="0" anchor="ctr"/>
          <a:lstStyle/>
          <a:p>
            <a:pPr indent="0" marL="0">
              <a:buNone/>
            </a:pPr>
            <a:r>
              <a:rPr lang="en-US" sz="1700" b="1" dirty="0">
                <a:solidFill>
                  <a:srgbClr val="16302A"/>
                </a:solidFill>
                <a:latin typeface="Cambria" pitchFamily="34" charset="0"/>
                <a:ea typeface="Cambria" pitchFamily="34" charset="-122"/>
                <a:cs typeface="Cambria" pitchFamily="34" charset="-120"/>
              </a:rPr>
              <a:t>Docker</a:t>
            </a:r>
            <a:endParaRPr lang="en-US" sz="1700" dirty="0"/>
          </a:p>
        </p:txBody>
      </p:sp>
      <p:sp>
        <p:nvSpPr>
          <p:cNvPr id="9" name="Text 7"/>
          <p:cNvSpPr txBox="1"/>
          <p:nvPr/>
        </p:nvSpPr>
        <p:spPr>
          <a:xfrm>
            <a:off x="4618634" y="3154680"/>
            <a:ext cx="2954426" cy="1645920"/>
          </a:xfrm>
          <a:prstGeom prst="rect">
            <a:avLst/>
          </a:prstGeom>
          <a:noFill/>
          <a:ln/>
        </p:spPr>
        <p:txBody>
          <a:bodyPr wrap="square" lIns="0" tIns="0" rIns="0" bIns="0" rtlCol="0" anchor="t"/>
          <a:lstStyle/>
          <a:p>
            <a:pPr indent="0" marL="0">
              <a:buNone/>
            </a:pPr>
            <a:r>
              <a:rPr lang="en-US" sz="1400" dirty="0">
                <a:solidFill>
                  <a:srgbClr val="4A5A52"/>
                </a:solidFill>
                <a:latin typeface="Calibri" pitchFamily="34" charset="0"/>
                <a:ea typeface="Calibri" pitchFamily="34" charset="-122"/>
                <a:cs typeface="Calibri" pitchFamily="34" charset="-120"/>
              </a:rPr>
              <a:t>Containerizes the pipeline; docker run executes the full dvc repro sequence, or a single stage on override.</a:t>
            </a:r>
            <a:endParaRPr lang="en-US" sz="1400" dirty="0"/>
          </a:p>
        </p:txBody>
      </p:sp>
      <p:sp>
        <p:nvSpPr>
          <p:cNvPr id="10" name="Shape 8"/>
          <p:cNvSpPr/>
          <p:nvPr/>
        </p:nvSpPr>
        <p:spPr>
          <a:xfrm>
            <a:off x="8085125" y="2286000"/>
            <a:ext cx="3466490" cy="2743200"/>
          </a:xfrm>
          <a:prstGeom prst="roundRect">
            <a:avLst>
              <a:gd name="adj" fmla="val 3000"/>
            </a:avLst>
          </a:prstGeom>
          <a:solidFill>
            <a:srgbClr val="EDF3EE"/>
          </a:solidFill>
          <a:ln/>
          <a:effectLst>
            <a:outerShdw sx="100000" sy="100000" kx="0" ky="0" algn="bl" rotWithShape="0" blurRad="76200" dist="25400" dir="5400000">
              <a:srgbClr val="000000">
                <a:alpha val="12000"/>
              </a:srgbClr>
            </a:outerShdw>
          </a:effectLst>
        </p:spPr>
      </p:sp>
      <p:sp>
        <p:nvSpPr>
          <p:cNvPr id="11" name="Text 9"/>
          <p:cNvSpPr txBox="1"/>
          <p:nvPr/>
        </p:nvSpPr>
        <p:spPr>
          <a:xfrm>
            <a:off x="8341157" y="2542032"/>
            <a:ext cx="2954426" cy="548640"/>
          </a:xfrm>
          <a:prstGeom prst="rect">
            <a:avLst/>
          </a:prstGeom>
          <a:noFill/>
          <a:ln/>
        </p:spPr>
        <p:txBody>
          <a:bodyPr wrap="square" lIns="0" tIns="0" rIns="0" bIns="0" rtlCol="0" anchor="ctr"/>
          <a:lstStyle/>
          <a:p>
            <a:pPr indent="0" marL="0">
              <a:buNone/>
            </a:pPr>
            <a:r>
              <a:rPr lang="en-US" sz="1700" b="1" dirty="0">
                <a:solidFill>
                  <a:srgbClr val="16302A"/>
                </a:solidFill>
                <a:latin typeface="Cambria" pitchFamily="34" charset="0"/>
                <a:ea typeface="Cambria" pitchFamily="34" charset="-122"/>
                <a:cs typeface="Cambria" pitchFamily="34" charset="-120"/>
              </a:rPr>
              <a:t>GitHub Actions</a:t>
            </a:r>
            <a:endParaRPr lang="en-US" sz="1700" dirty="0"/>
          </a:p>
        </p:txBody>
      </p:sp>
      <p:sp>
        <p:nvSpPr>
          <p:cNvPr id="12" name="Text 10"/>
          <p:cNvSpPr txBox="1"/>
          <p:nvPr/>
        </p:nvSpPr>
        <p:spPr>
          <a:xfrm>
            <a:off x="8341157" y="3154680"/>
            <a:ext cx="2954426" cy="1645920"/>
          </a:xfrm>
          <a:prstGeom prst="rect">
            <a:avLst/>
          </a:prstGeom>
          <a:noFill/>
          <a:ln/>
        </p:spPr>
        <p:txBody>
          <a:bodyPr wrap="square" lIns="0" tIns="0" rIns="0" bIns="0" rtlCol="0" anchor="t"/>
          <a:lstStyle/>
          <a:p>
            <a:pPr indent="0" marL="0">
              <a:buNone/>
            </a:pPr>
            <a:r>
              <a:rPr lang="en-US" sz="1400" dirty="0">
                <a:solidFill>
                  <a:srgbClr val="4A5A52"/>
                </a:solidFill>
                <a:latin typeface="Calibri" pitchFamily="34" charset="0"/>
                <a:ea typeface="Calibri" pitchFamily="34" charset="-122"/>
                <a:cs typeface="Calibri" pitchFamily="34" charset="-120"/>
              </a:rPr>
              <a:t>Lints code and runs a fast smoke test on every push/PR; full training is triggered manually or on a schedule.</a:t>
            </a:r>
            <a:endParaRPr lang="en-US" sz="1400" dirty="0"/>
          </a:p>
        </p:txBody>
      </p:sp>
      <p:sp>
        <p:nvSpPr>
          <p:cNvPr id="13" name="Text 11"/>
          <p:cNvSpPr txBox="1"/>
          <p:nvPr/>
        </p:nvSpPr>
        <p:spPr>
          <a:xfrm>
            <a:off x="640080" y="6355080"/>
            <a:ext cx="10362895" cy="320040"/>
          </a:xfrm>
          <a:prstGeom prst="rect">
            <a:avLst/>
          </a:prstGeom>
          <a:noFill/>
          <a:ln/>
        </p:spPr>
        <p:txBody>
          <a:bodyPr wrap="square" lIns="0" tIns="0" rIns="0" bIns="0" rtlCol="0" anchor="ctr"/>
          <a:lstStyle/>
          <a:p>
            <a:pPr indent="0" marL="0">
              <a:buNone/>
            </a:pPr>
            <a:r>
              <a:rPr lang="en-US" sz="1050" dirty="0">
                <a:solidFill>
                  <a:srgbClr val="8A9089"/>
                </a:solidFill>
                <a:latin typeface="Calibri" pitchFamily="34" charset="0"/>
                <a:ea typeface="Calibri" pitchFamily="34" charset="-122"/>
                <a:cs typeface="Calibri" pitchFamily="34" charset="-120"/>
              </a:rPr>
              <a:t>Green MLOps Case Study · Nandan Muruli</a:t>
            </a:r>
            <a:endParaRPr lang="en-US" sz="1050" dirty="0"/>
          </a:p>
        </p:txBody>
      </p:sp>
      <p:sp>
        <p:nvSpPr>
          <p:cNvPr id="14" name="Text 12"/>
          <p:cNvSpPr txBox="1"/>
          <p:nvPr/>
        </p:nvSpPr>
        <p:spPr>
          <a:xfrm>
            <a:off x="11002975" y="6355080"/>
            <a:ext cx="548640" cy="320040"/>
          </a:xfrm>
          <a:prstGeom prst="rect">
            <a:avLst/>
          </a:prstGeom>
          <a:noFill/>
          <a:ln/>
        </p:spPr>
        <p:txBody>
          <a:bodyPr wrap="square" lIns="0" tIns="0" rIns="0" bIns="0" rtlCol="0" anchor="ctr"/>
          <a:lstStyle/>
          <a:p>
            <a:pPr algn="r" indent="0" marL="0">
              <a:buNone/>
            </a:pPr>
            <a:r>
              <a:rPr lang="en-US" sz="1050" dirty="0">
                <a:solidFill>
                  <a:srgbClr val="8A9089"/>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2F6F52"/>
                </a:solidFill>
                <a:latin typeface="Calibri" pitchFamily="34" charset="0"/>
                <a:ea typeface="Calibri" pitchFamily="34" charset="-122"/>
                <a:cs typeface="Calibri" pitchFamily="34" charset="-120"/>
              </a:rPr>
              <a:t>RESULTS · RQ2</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2600" b="1" dirty="0">
                <a:solidFill>
                  <a:srgbClr val="16302A"/>
                </a:solidFill>
                <a:latin typeface="Cambria" pitchFamily="34" charset="0"/>
                <a:ea typeface="Cambria" pitchFamily="34" charset="-122"/>
                <a:cs typeface="Cambria" pitchFamily="34" charset="-120"/>
              </a:rPr>
              <a:t>Quantization wins; unstructured pruning doesn't pay off</a:t>
            </a:r>
            <a:endParaRPr lang="en-US" sz="2600" dirty="0"/>
          </a:p>
        </p:txBody>
      </p:sp>
      <p:graphicFrame>
        <p:nvGraphicFramePr>
          <p:cNvPr id="4" name="Chart 0" descr=""/>
          <p:cNvGraphicFramePr/>
          <p:nvPr/>
        </p:nvGraphicFramePr>
        <p:xfrm>
          <a:off x="640080" y="1965960"/>
          <a:ext cx="3484778" cy="23317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353458" y="1965960"/>
          <a:ext cx="3484778" cy="233172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8066837" y="1965960"/>
          <a:ext cx="3484778" cy="2331720"/>
        </p:xfrm>
        <a:graphic xmlns:a="http://schemas.openxmlformats.org/drawingml/2006/main">
          <a:graphicData uri="http://schemas.openxmlformats.org/drawingml/2006/chart">
            <c:chart xmlns:c="http://schemas.openxmlformats.org/drawingml/2006/chart" r:id="rId3"/>
          </a:graphicData>
        </a:graphic>
      </p:graphicFrame>
      <p:sp>
        <p:nvSpPr>
          <p:cNvPr id="7" name="Shape 2"/>
          <p:cNvSpPr/>
          <p:nvPr/>
        </p:nvSpPr>
        <p:spPr>
          <a:xfrm>
            <a:off x="640080" y="4572000"/>
            <a:ext cx="2556434" cy="1097280"/>
          </a:xfrm>
          <a:prstGeom prst="roundRect">
            <a:avLst>
              <a:gd name="adj" fmla="val 7500"/>
            </a:avLst>
          </a:prstGeom>
          <a:solidFill>
            <a:srgbClr val="1E4438"/>
          </a:solidFill>
          <a:ln/>
          <a:effectLst>
            <a:outerShdw sx="100000" sy="100000" kx="0" ky="0" algn="bl" rotWithShape="0" blurRad="76200" dist="25400" dir="5400000">
              <a:srgbClr val="000000">
                <a:alpha val="12000"/>
              </a:srgbClr>
            </a:outerShdw>
          </a:effectLst>
        </p:spPr>
      </p:sp>
      <p:sp>
        <p:nvSpPr>
          <p:cNvPr id="8" name="Text 3"/>
          <p:cNvSpPr txBox="1"/>
          <p:nvPr/>
        </p:nvSpPr>
        <p:spPr>
          <a:xfrm>
            <a:off x="868680" y="4681728"/>
            <a:ext cx="2099234" cy="603504"/>
          </a:xfrm>
          <a:prstGeom prst="rect">
            <a:avLst/>
          </a:prstGeom>
          <a:noFill/>
          <a:ln/>
        </p:spPr>
        <p:txBody>
          <a:bodyPr wrap="square" lIns="0" tIns="0" rIns="0" bIns="0" rtlCol="0" anchor="b"/>
          <a:lstStyle/>
          <a:p>
            <a:pPr indent="0" marL="0">
              <a:buNone/>
            </a:pPr>
            <a:r>
              <a:rPr lang="en-US" sz="3000" b="1" dirty="0">
                <a:solidFill>
                  <a:srgbClr val="8FBF9F"/>
                </a:solidFill>
                <a:latin typeface="Cambria" pitchFamily="34" charset="0"/>
                <a:ea typeface="Cambria" pitchFamily="34" charset="-122"/>
                <a:cs typeface="Cambria" pitchFamily="34" charset="-120"/>
              </a:rPr>
              <a:t>−53.5%</a:t>
            </a:r>
            <a:endParaRPr lang="en-US" sz="3000" dirty="0"/>
          </a:p>
        </p:txBody>
      </p:sp>
      <p:sp>
        <p:nvSpPr>
          <p:cNvPr id="9" name="Text 4"/>
          <p:cNvSpPr txBox="1"/>
          <p:nvPr/>
        </p:nvSpPr>
        <p:spPr>
          <a:xfrm>
            <a:off x="868680" y="5230368"/>
            <a:ext cx="2099234" cy="416966"/>
          </a:xfrm>
          <a:prstGeom prst="rect">
            <a:avLst/>
          </a:prstGeom>
          <a:noFill/>
          <a:ln/>
        </p:spPr>
        <p:txBody>
          <a:bodyPr wrap="square" lIns="0" tIns="0" rIns="0" bIns="0" rtlCol="0" anchor="t"/>
          <a:lstStyle/>
          <a:p>
            <a:pPr indent="0" marL="0">
              <a:buNone/>
            </a:pPr>
            <a:r>
              <a:rPr lang="en-US" sz="1300" dirty="0">
                <a:solidFill>
                  <a:srgbClr val="C9D6CD"/>
                </a:solidFill>
                <a:latin typeface="Calibri" pitchFamily="34" charset="0"/>
                <a:ea typeface="Calibri" pitchFamily="34" charset="-122"/>
                <a:cs typeface="Calibri" pitchFamily="34" charset="-120"/>
              </a:rPr>
              <a:t>latency, quantized</a:t>
            </a:r>
            <a:endParaRPr lang="en-US" sz="1300" dirty="0"/>
          </a:p>
        </p:txBody>
      </p:sp>
      <p:sp>
        <p:nvSpPr>
          <p:cNvPr id="10" name="Shape 5"/>
          <p:cNvSpPr/>
          <p:nvPr/>
        </p:nvSpPr>
        <p:spPr>
          <a:xfrm>
            <a:off x="3425114" y="4572000"/>
            <a:ext cx="2556434" cy="1097280"/>
          </a:xfrm>
          <a:prstGeom prst="roundRect">
            <a:avLst>
              <a:gd name="adj" fmla="val 7500"/>
            </a:avLst>
          </a:prstGeom>
          <a:solidFill>
            <a:srgbClr val="1E4438"/>
          </a:solidFill>
          <a:ln/>
          <a:effectLst>
            <a:outerShdw sx="100000" sy="100000" kx="0" ky="0" algn="bl" rotWithShape="0" blurRad="76200" dist="25400" dir="5400000">
              <a:srgbClr val="000000">
                <a:alpha val="12000"/>
              </a:srgbClr>
            </a:outerShdw>
          </a:effectLst>
        </p:spPr>
      </p:sp>
      <p:sp>
        <p:nvSpPr>
          <p:cNvPr id="11" name="Text 6"/>
          <p:cNvSpPr txBox="1"/>
          <p:nvPr/>
        </p:nvSpPr>
        <p:spPr>
          <a:xfrm>
            <a:off x="3653714" y="4681728"/>
            <a:ext cx="2099234" cy="603504"/>
          </a:xfrm>
          <a:prstGeom prst="rect">
            <a:avLst/>
          </a:prstGeom>
          <a:noFill/>
          <a:ln/>
        </p:spPr>
        <p:txBody>
          <a:bodyPr wrap="square" lIns="0" tIns="0" rIns="0" bIns="0" rtlCol="0" anchor="b"/>
          <a:lstStyle/>
          <a:p>
            <a:pPr indent="0" marL="0">
              <a:buNone/>
            </a:pPr>
            <a:r>
              <a:rPr lang="en-US" sz="3000" b="1" dirty="0">
                <a:solidFill>
                  <a:srgbClr val="8FBF9F"/>
                </a:solidFill>
                <a:latin typeface="Cambria" pitchFamily="34" charset="0"/>
                <a:ea typeface="Cambria" pitchFamily="34" charset="-122"/>
                <a:cs typeface="Cambria" pitchFamily="34" charset="-120"/>
              </a:rPr>
              <a:t>−48.2%</a:t>
            </a:r>
            <a:endParaRPr lang="en-US" sz="3000" dirty="0"/>
          </a:p>
        </p:txBody>
      </p:sp>
      <p:sp>
        <p:nvSpPr>
          <p:cNvPr id="12" name="Text 7"/>
          <p:cNvSpPr txBox="1"/>
          <p:nvPr/>
        </p:nvSpPr>
        <p:spPr>
          <a:xfrm>
            <a:off x="3653714" y="5230368"/>
            <a:ext cx="2099234" cy="416966"/>
          </a:xfrm>
          <a:prstGeom prst="rect">
            <a:avLst/>
          </a:prstGeom>
          <a:noFill/>
          <a:ln/>
        </p:spPr>
        <p:txBody>
          <a:bodyPr wrap="square" lIns="0" tIns="0" rIns="0" bIns="0" rtlCol="0" anchor="t"/>
          <a:lstStyle/>
          <a:p>
            <a:pPr indent="0" marL="0">
              <a:buNone/>
            </a:pPr>
            <a:r>
              <a:rPr lang="en-US" sz="1300" dirty="0">
                <a:solidFill>
                  <a:srgbClr val="C9D6CD"/>
                </a:solidFill>
                <a:latin typeface="Calibri" pitchFamily="34" charset="0"/>
                <a:ea typeface="Calibri" pitchFamily="34" charset="-122"/>
                <a:cs typeface="Calibri" pitchFamily="34" charset="-120"/>
              </a:rPr>
              <a:t>on-disk size, quantized</a:t>
            </a:r>
            <a:endParaRPr lang="en-US" sz="1300" dirty="0"/>
          </a:p>
        </p:txBody>
      </p:sp>
      <p:sp>
        <p:nvSpPr>
          <p:cNvPr id="13" name="Shape 8"/>
          <p:cNvSpPr/>
          <p:nvPr/>
        </p:nvSpPr>
        <p:spPr>
          <a:xfrm>
            <a:off x="6210148" y="4572000"/>
            <a:ext cx="2556434" cy="1097280"/>
          </a:xfrm>
          <a:prstGeom prst="roundRect">
            <a:avLst>
              <a:gd name="adj" fmla="val 7500"/>
            </a:avLst>
          </a:prstGeom>
          <a:solidFill>
            <a:srgbClr val="1E4438"/>
          </a:solidFill>
          <a:ln/>
          <a:effectLst>
            <a:outerShdw sx="100000" sy="100000" kx="0" ky="0" algn="bl" rotWithShape="0" blurRad="76200" dist="25400" dir="5400000">
              <a:srgbClr val="000000">
                <a:alpha val="12000"/>
              </a:srgbClr>
            </a:outerShdw>
          </a:effectLst>
        </p:spPr>
      </p:sp>
      <p:sp>
        <p:nvSpPr>
          <p:cNvPr id="14" name="Text 9"/>
          <p:cNvSpPr txBox="1"/>
          <p:nvPr/>
        </p:nvSpPr>
        <p:spPr>
          <a:xfrm>
            <a:off x="6438748" y="4681728"/>
            <a:ext cx="2099234" cy="603504"/>
          </a:xfrm>
          <a:prstGeom prst="rect">
            <a:avLst/>
          </a:prstGeom>
          <a:noFill/>
          <a:ln/>
        </p:spPr>
        <p:txBody>
          <a:bodyPr wrap="square" lIns="0" tIns="0" rIns="0" bIns="0" rtlCol="0" anchor="b"/>
          <a:lstStyle/>
          <a:p>
            <a:pPr indent="0" marL="0">
              <a:buNone/>
            </a:pPr>
            <a:r>
              <a:rPr lang="en-US" sz="3000" b="1" dirty="0">
                <a:solidFill>
                  <a:srgbClr val="E0A05E"/>
                </a:solidFill>
                <a:latin typeface="Cambria" pitchFamily="34" charset="0"/>
                <a:ea typeface="Cambria" pitchFamily="34" charset="-122"/>
                <a:cs typeface="Cambria" pitchFamily="34" charset="-120"/>
              </a:rPr>
              <a:t>−6.3pp</a:t>
            </a:r>
            <a:endParaRPr lang="en-US" sz="3000" dirty="0"/>
          </a:p>
        </p:txBody>
      </p:sp>
      <p:sp>
        <p:nvSpPr>
          <p:cNvPr id="15" name="Text 10"/>
          <p:cNvSpPr txBox="1"/>
          <p:nvPr/>
        </p:nvSpPr>
        <p:spPr>
          <a:xfrm>
            <a:off x="6438748" y="5230368"/>
            <a:ext cx="2099234" cy="416966"/>
          </a:xfrm>
          <a:prstGeom prst="rect">
            <a:avLst/>
          </a:prstGeom>
          <a:noFill/>
          <a:ln/>
        </p:spPr>
        <p:txBody>
          <a:bodyPr wrap="square" lIns="0" tIns="0" rIns="0" bIns="0" rtlCol="0" anchor="t"/>
          <a:lstStyle/>
          <a:p>
            <a:pPr indent="0" marL="0">
              <a:buNone/>
            </a:pPr>
            <a:r>
              <a:rPr lang="en-US" sz="1300" dirty="0">
                <a:solidFill>
                  <a:srgbClr val="C9D6CD"/>
                </a:solidFill>
                <a:latin typeface="Calibri" pitchFamily="34" charset="0"/>
                <a:ea typeface="Calibri" pitchFamily="34" charset="-122"/>
                <a:cs typeface="Calibri" pitchFamily="34" charset="-120"/>
              </a:rPr>
              <a:t>accuracy cost, quantized</a:t>
            </a:r>
            <a:endParaRPr lang="en-US" sz="1300" dirty="0"/>
          </a:p>
        </p:txBody>
      </p:sp>
      <p:sp>
        <p:nvSpPr>
          <p:cNvPr id="16" name="Shape 11"/>
          <p:cNvSpPr/>
          <p:nvPr/>
        </p:nvSpPr>
        <p:spPr>
          <a:xfrm>
            <a:off x="8995181" y="4572000"/>
            <a:ext cx="2556434" cy="1097280"/>
          </a:xfrm>
          <a:prstGeom prst="roundRect">
            <a:avLst>
              <a:gd name="adj" fmla="val 7500"/>
            </a:avLst>
          </a:prstGeom>
          <a:solidFill>
            <a:srgbClr val="3A2A1E"/>
          </a:solidFill>
          <a:ln/>
          <a:effectLst>
            <a:outerShdw sx="100000" sy="100000" kx="0" ky="0" algn="bl" rotWithShape="0" blurRad="76200" dist="25400" dir="5400000">
              <a:srgbClr val="000000">
                <a:alpha val="12000"/>
              </a:srgbClr>
            </a:outerShdw>
          </a:effectLst>
        </p:spPr>
      </p:sp>
      <p:sp>
        <p:nvSpPr>
          <p:cNvPr id="17" name="Text 12"/>
          <p:cNvSpPr txBox="1"/>
          <p:nvPr/>
        </p:nvSpPr>
        <p:spPr>
          <a:xfrm>
            <a:off x="9223781" y="4681728"/>
            <a:ext cx="2099234" cy="603504"/>
          </a:xfrm>
          <a:prstGeom prst="rect">
            <a:avLst/>
          </a:prstGeom>
          <a:noFill/>
          <a:ln/>
        </p:spPr>
        <p:txBody>
          <a:bodyPr wrap="square" lIns="0" tIns="0" rIns="0" bIns="0" rtlCol="0" anchor="b"/>
          <a:lstStyle/>
          <a:p>
            <a:pPr indent="0" marL="0">
              <a:buNone/>
            </a:pPr>
            <a:r>
              <a:rPr lang="en-US" sz="3000" b="1" dirty="0">
                <a:solidFill>
                  <a:srgbClr val="E0A05E"/>
                </a:solidFill>
                <a:latin typeface="Cambria" pitchFamily="34" charset="0"/>
                <a:ea typeface="Cambria" pitchFamily="34" charset="-122"/>
                <a:cs typeface="Cambria" pitchFamily="34" charset="-120"/>
              </a:rPr>
              <a:t>0%</a:t>
            </a:r>
            <a:endParaRPr lang="en-US" sz="3000" dirty="0"/>
          </a:p>
        </p:txBody>
      </p:sp>
      <p:sp>
        <p:nvSpPr>
          <p:cNvPr id="18" name="Text 13"/>
          <p:cNvSpPr txBox="1"/>
          <p:nvPr/>
        </p:nvSpPr>
        <p:spPr>
          <a:xfrm>
            <a:off x="9223781" y="5230368"/>
            <a:ext cx="2099234" cy="416966"/>
          </a:xfrm>
          <a:prstGeom prst="rect">
            <a:avLst/>
          </a:prstGeom>
          <a:noFill/>
          <a:ln/>
        </p:spPr>
        <p:txBody>
          <a:bodyPr wrap="square" lIns="0" tIns="0" rIns="0" bIns="0" rtlCol="0" anchor="t"/>
          <a:lstStyle/>
          <a:p>
            <a:pPr indent="0" marL="0">
              <a:buNone/>
            </a:pPr>
            <a:r>
              <a:rPr lang="en-US" sz="1300" dirty="0">
                <a:solidFill>
                  <a:srgbClr val="E8D5BE"/>
                </a:solidFill>
                <a:latin typeface="Calibri" pitchFamily="34" charset="0"/>
                <a:ea typeface="Calibri" pitchFamily="34" charset="-122"/>
                <a:cs typeface="Calibri" pitchFamily="34" charset="-120"/>
              </a:rPr>
              <a:t>benefit from pruning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2F6F52"/>
                </a:solidFill>
                <a:latin typeface="Calibri" pitchFamily="34" charset="0"/>
                <a:ea typeface="Calibri" pitchFamily="34" charset="-122"/>
                <a:cs typeface="Calibri" pitchFamily="34" charset="-120"/>
              </a:rPr>
              <a:t>RESULTS · RQ3A</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2500" b="1" dirty="0">
                <a:solidFill>
                  <a:srgbClr val="16302A"/>
                </a:solidFill>
                <a:latin typeface="Cambria" pitchFamily="34" charset="0"/>
                <a:ea typeface="Cambria" pitchFamily="34" charset="-122"/>
                <a:cs typeface="Cambria" pitchFamily="34" charset="-120"/>
              </a:rPr>
              <a:t>Thread-capping lowers energy — but thins the SLA margin</a:t>
            </a:r>
            <a:endParaRPr lang="en-US" sz="2500" dirty="0"/>
          </a:p>
        </p:txBody>
      </p:sp>
      <p:graphicFrame>
        <p:nvGraphicFramePr>
          <p:cNvPr id="4" name="Chart 0" descr=""/>
          <p:cNvGraphicFramePr/>
          <p:nvPr/>
        </p:nvGraphicFramePr>
        <p:xfrm>
          <a:off x="640080" y="1965960"/>
          <a:ext cx="603504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040880" y="1965960"/>
            <a:ext cx="4510735" cy="1234440"/>
          </a:xfrm>
          <a:prstGeom prst="roundRect">
            <a:avLst>
              <a:gd name="adj" fmla="val 6667"/>
            </a:avLst>
          </a:prstGeom>
          <a:solidFill>
            <a:srgbClr val="1E4438"/>
          </a:solidFill>
          <a:ln/>
          <a:effectLst>
            <a:outerShdw sx="100000" sy="100000" kx="0" ky="0" algn="bl" rotWithShape="0" blurRad="76200" dist="25400" dir="5400000">
              <a:srgbClr val="000000">
                <a:alpha val="12000"/>
              </a:srgbClr>
            </a:outerShdw>
          </a:effectLst>
        </p:spPr>
      </p:sp>
      <p:sp>
        <p:nvSpPr>
          <p:cNvPr id="6" name="Text 3"/>
          <p:cNvSpPr txBox="1"/>
          <p:nvPr/>
        </p:nvSpPr>
        <p:spPr>
          <a:xfrm>
            <a:off x="7269480" y="2075688"/>
            <a:ext cx="4053535" cy="678942"/>
          </a:xfrm>
          <a:prstGeom prst="rect">
            <a:avLst/>
          </a:prstGeom>
          <a:noFill/>
          <a:ln/>
        </p:spPr>
        <p:txBody>
          <a:bodyPr wrap="square" lIns="0" tIns="0" rIns="0" bIns="0" rtlCol="0" anchor="b"/>
          <a:lstStyle/>
          <a:p>
            <a:pPr indent="0" marL="0">
              <a:buNone/>
            </a:pPr>
            <a:r>
              <a:rPr lang="en-US" sz="3000" b="1" dirty="0">
                <a:solidFill>
                  <a:srgbClr val="8FBF9F"/>
                </a:solidFill>
                <a:latin typeface="Cambria" pitchFamily="34" charset="0"/>
                <a:ea typeface="Cambria" pitchFamily="34" charset="-122"/>
                <a:cs typeface="Cambria" pitchFamily="34" charset="-120"/>
              </a:rPr>
              <a:t>−37.4%</a:t>
            </a:r>
            <a:endParaRPr lang="en-US" sz="3000" dirty="0"/>
          </a:p>
        </p:txBody>
      </p:sp>
      <p:sp>
        <p:nvSpPr>
          <p:cNvPr id="7" name="Text 4"/>
          <p:cNvSpPr txBox="1"/>
          <p:nvPr/>
        </p:nvSpPr>
        <p:spPr>
          <a:xfrm>
            <a:off x="7269480" y="2706624"/>
            <a:ext cx="4053535" cy="469087"/>
          </a:xfrm>
          <a:prstGeom prst="rect">
            <a:avLst/>
          </a:prstGeom>
          <a:noFill/>
          <a:ln/>
        </p:spPr>
        <p:txBody>
          <a:bodyPr wrap="square" lIns="0" tIns="0" rIns="0" bIns="0" rtlCol="0" anchor="t"/>
          <a:lstStyle/>
          <a:p>
            <a:pPr indent="0" marL="0">
              <a:buNone/>
            </a:pPr>
            <a:r>
              <a:rPr lang="en-US" sz="1300" dirty="0">
                <a:solidFill>
                  <a:srgbClr val="C9D6CD"/>
                </a:solidFill>
                <a:latin typeface="Calibri" pitchFamily="34" charset="0"/>
                <a:ea typeface="Calibri" pitchFamily="34" charset="-122"/>
                <a:cs typeface="Calibri" pitchFamily="34" charset="-120"/>
              </a:rPr>
              <a:t>measured emissions at 1 thread vs. 4 threads</a:t>
            </a:r>
            <a:endParaRPr lang="en-US" sz="1300" dirty="0"/>
          </a:p>
        </p:txBody>
      </p:sp>
      <p:sp>
        <p:nvSpPr>
          <p:cNvPr id="8" name="Shape 5"/>
          <p:cNvSpPr/>
          <p:nvPr/>
        </p:nvSpPr>
        <p:spPr>
          <a:xfrm>
            <a:off x="7040880" y="3383280"/>
            <a:ext cx="4510735" cy="1234440"/>
          </a:xfrm>
          <a:prstGeom prst="roundRect">
            <a:avLst>
              <a:gd name="adj" fmla="val 6667"/>
            </a:avLst>
          </a:prstGeom>
          <a:solidFill>
            <a:srgbClr val="3A2A1E"/>
          </a:solidFill>
          <a:ln/>
          <a:effectLst>
            <a:outerShdw sx="100000" sy="100000" kx="0" ky="0" algn="bl" rotWithShape="0" blurRad="76200" dist="25400" dir="5400000">
              <a:srgbClr val="000000">
                <a:alpha val="12000"/>
              </a:srgbClr>
            </a:outerShdw>
          </a:effectLst>
        </p:spPr>
      </p:sp>
      <p:sp>
        <p:nvSpPr>
          <p:cNvPr id="9" name="Text 6"/>
          <p:cNvSpPr txBox="1"/>
          <p:nvPr/>
        </p:nvSpPr>
        <p:spPr>
          <a:xfrm>
            <a:off x="7269480" y="3493008"/>
            <a:ext cx="4053535" cy="678942"/>
          </a:xfrm>
          <a:prstGeom prst="rect">
            <a:avLst/>
          </a:prstGeom>
          <a:noFill/>
          <a:ln/>
        </p:spPr>
        <p:txBody>
          <a:bodyPr wrap="square" lIns="0" tIns="0" rIns="0" bIns="0" rtlCol="0" anchor="b"/>
          <a:lstStyle/>
          <a:p>
            <a:pPr indent="0" marL="0">
              <a:buNone/>
            </a:pPr>
            <a:r>
              <a:rPr lang="en-US" sz="3000" b="1" dirty="0">
                <a:solidFill>
                  <a:srgbClr val="E0A05E"/>
                </a:solidFill>
                <a:latin typeface="Cambria" pitchFamily="34" charset="0"/>
                <a:ea typeface="Cambria" pitchFamily="34" charset="-122"/>
                <a:cs typeface="Cambria" pitchFamily="34" charset="-120"/>
              </a:rPr>
              <a:t>90.9%</a:t>
            </a:r>
            <a:endParaRPr lang="en-US" sz="3000" dirty="0"/>
          </a:p>
        </p:txBody>
      </p:sp>
      <p:sp>
        <p:nvSpPr>
          <p:cNvPr id="10" name="Text 7"/>
          <p:cNvSpPr txBox="1"/>
          <p:nvPr/>
        </p:nvSpPr>
        <p:spPr>
          <a:xfrm>
            <a:off x="7269480" y="4123944"/>
            <a:ext cx="4053535" cy="469087"/>
          </a:xfrm>
          <a:prstGeom prst="rect">
            <a:avLst/>
          </a:prstGeom>
          <a:noFill/>
          <a:ln/>
        </p:spPr>
        <p:txBody>
          <a:bodyPr wrap="square" lIns="0" tIns="0" rIns="0" bIns="0" rtlCol="0" anchor="t"/>
          <a:lstStyle/>
          <a:p>
            <a:pPr indent="0" marL="0">
              <a:buNone/>
            </a:pPr>
            <a:r>
              <a:rPr lang="en-US" sz="1300" dirty="0">
                <a:solidFill>
                  <a:srgbClr val="E8D5BE"/>
                </a:solidFill>
                <a:latin typeface="Calibri" pitchFamily="34" charset="0"/>
                <a:ea typeface="Calibri" pitchFamily="34" charset="-122"/>
                <a:cs typeface="Calibri" pitchFamily="34" charset="-120"/>
              </a:rPr>
              <a:t>of the 500ms SLA used at p95, 1 thread (vs. 74.1% at 4)</a:t>
            </a:r>
            <a:endParaRPr lang="en-US" sz="1300" dirty="0"/>
          </a:p>
        </p:txBody>
      </p:sp>
      <p:sp>
        <p:nvSpPr>
          <p:cNvPr id="11" name="Text 8"/>
          <p:cNvSpPr txBox="1"/>
          <p:nvPr/>
        </p:nvSpPr>
        <p:spPr>
          <a:xfrm>
            <a:off x="7040880" y="4800600"/>
            <a:ext cx="4510735" cy="457200"/>
          </a:xfrm>
          <a:prstGeom prst="rect">
            <a:avLst/>
          </a:prstGeom>
          <a:noFill/>
          <a:ln/>
        </p:spPr>
        <p:txBody>
          <a:bodyPr wrap="square" lIns="0" tIns="0" rIns="0" bIns="0" rtlCol="0" anchor="ctr"/>
          <a:lstStyle/>
          <a:p>
            <a:pPr indent="0" marL="0">
              <a:buNone/>
            </a:pPr>
            <a:r>
              <a:rPr lang="en-US" sz="1250" i="1" dirty="0">
                <a:solidFill>
                  <a:srgbClr val="4A5A52"/>
                </a:solidFill>
                <a:latin typeface="Calibri" pitchFamily="34" charset="0"/>
                <a:ea typeface="Calibri" pitchFamily="34" charset="-122"/>
                <a:cs typeface="Calibri" pitchFamily="34" charset="-120"/>
              </a:rPr>
              <a:t>No configuration violated the SLA — but the safety margin narrows quickly as the cap tightens.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2F6F52"/>
                </a:solidFill>
                <a:latin typeface="Calibri" pitchFamily="34" charset="0"/>
                <a:ea typeface="Calibri" pitchFamily="34" charset="-122"/>
                <a:cs typeface="Calibri" pitchFamily="34" charset="-120"/>
              </a:rPr>
              <a:t>RESULTS · RQ3B</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2700" b="1" dirty="0">
                <a:solidFill>
                  <a:srgbClr val="16302A"/>
                </a:solidFill>
                <a:latin typeface="Cambria" pitchFamily="34" charset="0"/>
                <a:ea typeface="Cambria" pitchFamily="34" charset="-122"/>
                <a:cs typeface="Cambria" pitchFamily="34" charset="-120"/>
              </a:rPr>
              <a:t>Early stopping: less energy, a better model</a:t>
            </a:r>
            <a:endParaRPr lang="en-US" sz="2700" dirty="0"/>
          </a:p>
        </p:txBody>
      </p:sp>
      <p:graphicFrame>
        <p:nvGraphicFramePr>
          <p:cNvPr id="4" name="Chart 0" descr=""/>
          <p:cNvGraphicFramePr/>
          <p:nvPr/>
        </p:nvGraphicFramePr>
        <p:xfrm>
          <a:off x="640080" y="2057400"/>
          <a:ext cx="5295748"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55868" y="2057400"/>
          <a:ext cx="5295748" cy="283464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640080" y="5120640"/>
            <a:ext cx="5318608" cy="868680"/>
          </a:xfrm>
          <a:prstGeom prst="roundRect">
            <a:avLst>
              <a:gd name="adj" fmla="val 9474"/>
            </a:avLst>
          </a:prstGeom>
          <a:solidFill>
            <a:srgbClr val="1E4438"/>
          </a:solidFill>
          <a:ln/>
          <a:effectLst>
            <a:outerShdw sx="100000" sy="100000" kx="0" ky="0" algn="bl" rotWithShape="0" blurRad="76200" dist="25400" dir="5400000">
              <a:srgbClr val="000000">
                <a:alpha val="12000"/>
              </a:srgbClr>
            </a:outerShdw>
          </a:effectLst>
        </p:spPr>
      </p:sp>
      <p:sp>
        <p:nvSpPr>
          <p:cNvPr id="7" name="Text 3"/>
          <p:cNvSpPr txBox="1"/>
          <p:nvPr/>
        </p:nvSpPr>
        <p:spPr>
          <a:xfrm>
            <a:off x="868680" y="5230368"/>
            <a:ext cx="4861408" cy="477774"/>
          </a:xfrm>
          <a:prstGeom prst="rect">
            <a:avLst/>
          </a:prstGeom>
          <a:noFill/>
          <a:ln/>
        </p:spPr>
        <p:txBody>
          <a:bodyPr wrap="square" lIns="0" tIns="0" rIns="0" bIns="0" rtlCol="0" anchor="b"/>
          <a:lstStyle/>
          <a:p>
            <a:pPr indent="0" marL="0">
              <a:buNone/>
            </a:pPr>
            <a:r>
              <a:rPr lang="en-US" sz="3000" b="1" dirty="0">
                <a:solidFill>
                  <a:srgbClr val="8FBF9F"/>
                </a:solidFill>
                <a:latin typeface="Cambria" pitchFamily="34" charset="0"/>
                <a:ea typeface="Cambria" pitchFamily="34" charset="-122"/>
                <a:cs typeface="Cambria" pitchFamily="34" charset="-120"/>
              </a:rPr>
              <a:t>−23.5%</a:t>
            </a:r>
            <a:endParaRPr lang="en-US" sz="3000" dirty="0"/>
          </a:p>
        </p:txBody>
      </p:sp>
      <p:sp>
        <p:nvSpPr>
          <p:cNvPr id="8" name="Text 4"/>
          <p:cNvSpPr txBox="1"/>
          <p:nvPr/>
        </p:nvSpPr>
        <p:spPr>
          <a:xfrm>
            <a:off x="868680" y="5641848"/>
            <a:ext cx="4861408" cy="330098"/>
          </a:xfrm>
          <a:prstGeom prst="rect">
            <a:avLst/>
          </a:prstGeom>
          <a:noFill/>
          <a:ln/>
        </p:spPr>
        <p:txBody>
          <a:bodyPr wrap="square" lIns="0" tIns="0" rIns="0" bIns="0" rtlCol="0" anchor="t"/>
          <a:lstStyle/>
          <a:p>
            <a:pPr indent="0" marL="0">
              <a:buNone/>
            </a:pPr>
            <a:r>
              <a:rPr lang="en-US" sz="1300" dirty="0">
                <a:solidFill>
                  <a:srgbClr val="C9D6CD"/>
                </a:solidFill>
                <a:latin typeface="Calibri" pitchFamily="34" charset="0"/>
                <a:ea typeface="Calibri" pitchFamily="34" charset="-122"/>
                <a:cs typeface="Calibri" pitchFamily="34" charset="-120"/>
              </a:rPr>
              <a:t>total energy vs. brute-force grid search</a:t>
            </a:r>
            <a:endParaRPr lang="en-US" sz="1300" dirty="0"/>
          </a:p>
        </p:txBody>
      </p:sp>
      <p:sp>
        <p:nvSpPr>
          <p:cNvPr id="9" name="Shape 5"/>
          <p:cNvSpPr/>
          <p:nvPr/>
        </p:nvSpPr>
        <p:spPr>
          <a:xfrm>
            <a:off x="6233008" y="5120640"/>
            <a:ext cx="5318608" cy="868680"/>
          </a:xfrm>
          <a:prstGeom prst="roundRect">
            <a:avLst>
              <a:gd name="adj" fmla="val 9474"/>
            </a:avLst>
          </a:prstGeom>
          <a:solidFill>
            <a:srgbClr val="1E4438"/>
          </a:solidFill>
          <a:ln/>
          <a:effectLst>
            <a:outerShdw sx="100000" sy="100000" kx="0" ky="0" algn="bl" rotWithShape="0" blurRad="76200" dist="25400" dir="5400000">
              <a:srgbClr val="000000">
                <a:alpha val="12000"/>
              </a:srgbClr>
            </a:outerShdw>
          </a:effectLst>
        </p:spPr>
      </p:sp>
      <p:sp>
        <p:nvSpPr>
          <p:cNvPr id="10" name="Text 6"/>
          <p:cNvSpPr txBox="1"/>
          <p:nvPr/>
        </p:nvSpPr>
        <p:spPr>
          <a:xfrm>
            <a:off x="6461608" y="5230368"/>
            <a:ext cx="4861408" cy="477774"/>
          </a:xfrm>
          <a:prstGeom prst="rect">
            <a:avLst/>
          </a:prstGeom>
          <a:noFill/>
          <a:ln/>
        </p:spPr>
        <p:txBody>
          <a:bodyPr wrap="square" lIns="0" tIns="0" rIns="0" bIns="0" rtlCol="0" anchor="b"/>
          <a:lstStyle/>
          <a:p>
            <a:pPr indent="0" marL="0">
              <a:buNone/>
            </a:pPr>
            <a:r>
              <a:rPr lang="en-US" sz="3000" b="1" dirty="0">
                <a:solidFill>
                  <a:srgbClr val="8FBF9F"/>
                </a:solidFill>
                <a:latin typeface="Cambria" pitchFamily="34" charset="0"/>
                <a:ea typeface="Cambria" pitchFamily="34" charset="-122"/>
                <a:cs typeface="Cambria" pitchFamily="34" charset="-120"/>
              </a:rPr>
              <a:t>0.514 vs. 0.680</a:t>
            </a:r>
            <a:endParaRPr lang="en-US" sz="3000" dirty="0"/>
          </a:p>
        </p:txBody>
      </p:sp>
      <p:sp>
        <p:nvSpPr>
          <p:cNvPr id="11" name="Text 7"/>
          <p:cNvSpPr txBox="1"/>
          <p:nvPr/>
        </p:nvSpPr>
        <p:spPr>
          <a:xfrm>
            <a:off x="6461608" y="5641848"/>
            <a:ext cx="4861408" cy="330098"/>
          </a:xfrm>
          <a:prstGeom prst="rect">
            <a:avLst/>
          </a:prstGeom>
          <a:noFill/>
          <a:ln/>
        </p:spPr>
        <p:txBody>
          <a:bodyPr wrap="square" lIns="0" tIns="0" rIns="0" bIns="0" rtlCol="0" anchor="t"/>
          <a:lstStyle/>
          <a:p>
            <a:pPr indent="0" marL="0">
              <a:buNone/>
            </a:pPr>
            <a:r>
              <a:rPr lang="en-US" sz="1300" dirty="0">
                <a:solidFill>
                  <a:srgbClr val="C9D6CD"/>
                </a:solidFill>
                <a:latin typeface="Calibri" pitchFamily="34" charset="0"/>
                <a:ea typeface="Calibri" pitchFamily="34" charset="-122"/>
                <a:cs typeface="Calibri" pitchFamily="34" charset="-120"/>
              </a:rPr>
              <a:t>validation loss, early stopping vs. grid search's best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302A"/>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8FBF9F"/>
                </a:solidFill>
                <a:latin typeface="Calibri" pitchFamily="34" charset="0"/>
                <a:ea typeface="Calibri" pitchFamily="34" charset="-122"/>
                <a:cs typeface="Calibri" pitchFamily="34" charset="-120"/>
              </a:rPr>
              <a:t>DISCUSSION</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One practical picture, across all three RQs</a:t>
            </a:r>
            <a:endParaRPr lang="en-US" sz="2800" dirty="0"/>
          </a:p>
        </p:txBody>
      </p:sp>
      <p:sp>
        <p:nvSpPr>
          <p:cNvPr id="4" name="Shape 2"/>
          <p:cNvSpPr/>
          <p:nvPr/>
        </p:nvSpPr>
        <p:spPr>
          <a:xfrm>
            <a:off x="640080" y="2148840"/>
            <a:ext cx="3466490" cy="1965960"/>
          </a:xfrm>
          <a:prstGeom prst="roundRect">
            <a:avLst>
              <a:gd name="adj" fmla="val 4186"/>
            </a:avLst>
          </a:prstGeom>
          <a:solidFill>
            <a:srgbClr val="1E4438"/>
          </a:solidFill>
          <a:ln/>
          <a:effectLst>
            <a:outerShdw sx="100000" sy="100000" kx="0" ky="0" algn="bl" rotWithShape="0" blurRad="76200" dist="25400" dir="5400000">
              <a:srgbClr val="000000">
                <a:alpha val="12000"/>
              </a:srgbClr>
            </a:outerShdw>
          </a:effectLst>
        </p:spPr>
      </p:sp>
      <p:sp>
        <p:nvSpPr>
          <p:cNvPr id="5" name="Text 3"/>
          <p:cNvSpPr txBox="1"/>
          <p:nvPr/>
        </p:nvSpPr>
        <p:spPr>
          <a:xfrm>
            <a:off x="868680" y="2350008"/>
            <a:ext cx="3009290" cy="457200"/>
          </a:xfrm>
          <a:prstGeom prst="rect">
            <a:avLst/>
          </a:prstGeom>
          <a:noFill/>
          <a:ln/>
        </p:spPr>
        <p:txBody>
          <a:bodyPr wrap="square" lIns="0" tIns="0" rIns="0" bIns="0" rtlCol="0" anchor="ctr"/>
          <a:lstStyle/>
          <a:p>
            <a:pPr indent="0" marL="0">
              <a:buNone/>
            </a:pPr>
            <a:r>
              <a:rPr lang="en-US" sz="1600" b="1" dirty="0">
                <a:solidFill>
                  <a:srgbClr val="8FBF9F"/>
                </a:solidFill>
                <a:latin typeface="Cambria" pitchFamily="34" charset="0"/>
                <a:ea typeface="Cambria" pitchFamily="34" charset="-122"/>
                <a:cs typeface="Cambria" pitchFamily="34" charset="-120"/>
              </a:rPr>
              <a:t>RQ1 · Easy to see</a:t>
            </a:r>
            <a:endParaRPr lang="en-US" sz="1600" dirty="0"/>
          </a:p>
        </p:txBody>
      </p:sp>
      <p:sp>
        <p:nvSpPr>
          <p:cNvPr id="6" name="Text 4"/>
          <p:cNvSpPr txBox="1"/>
          <p:nvPr/>
        </p:nvSpPr>
        <p:spPr>
          <a:xfrm>
            <a:off x="868680" y="2880360"/>
            <a:ext cx="3009290" cy="105156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Energy becomes visible for free once telemetry is treated as just another metric to log, not a bespoke script per experiment.</a:t>
            </a:r>
            <a:endParaRPr lang="en-US" sz="1350" dirty="0"/>
          </a:p>
        </p:txBody>
      </p:sp>
      <p:sp>
        <p:nvSpPr>
          <p:cNvPr id="7" name="Shape 5"/>
          <p:cNvSpPr/>
          <p:nvPr/>
        </p:nvSpPr>
        <p:spPr>
          <a:xfrm>
            <a:off x="4362602" y="2148840"/>
            <a:ext cx="3466490" cy="1965960"/>
          </a:xfrm>
          <a:prstGeom prst="roundRect">
            <a:avLst>
              <a:gd name="adj" fmla="val 4186"/>
            </a:avLst>
          </a:prstGeom>
          <a:solidFill>
            <a:srgbClr val="1E4438"/>
          </a:solidFill>
          <a:ln/>
          <a:effectLst>
            <a:outerShdw sx="100000" sy="100000" kx="0" ky="0" algn="bl" rotWithShape="0" blurRad="76200" dist="25400" dir="5400000">
              <a:srgbClr val="000000">
                <a:alpha val="12000"/>
              </a:srgbClr>
            </a:outerShdw>
          </a:effectLst>
        </p:spPr>
      </p:sp>
      <p:sp>
        <p:nvSpPr>
          <p:cNvPr id="8" name="Text 6"/>
          <p:cNvSpPr txBox="1"/>
          <p:nvPr/>
        </p:nvSpPr>
        <p:spPr>
          <a:xfrm>
            <a:off x="4591202" y="2350008"/>
            <a:ext cx="3009290" cy="457200"/>
          </a:xfrm>
          <a:prstGeom prst="rect">
            <a:avLst/>
          </a:prstGeom>
          <a:noFill/>
          <a:ln/>
        </p:spPr>
        <p:txBody>
          <a:bodyPr wrap="square" lIns="0" tIns="0" rIns="0" bIns="0" rtlCol="0" anchor="ctr"/>
          <a:lstStyle/>
          <a:p>
            <a:pPr indent="0" marL="0">
              <a:buNone/>
            </a:pPr>
            <a:r>
              <a:rPr lang="en-US" sz="1600" b="1" dirty="0">
                <a:solidFill>
                  <a:srgbClr val="8FBF9F"/>
                </a:solidFill>
                <a:latin typeface="Cambria" pitchFamily="34" charset="0"/>
                <a:ea typeface="Cambria" pitchFamily="34" charset="-122"/>
                <a:cs typeface="Cambria" pitchFamily="34" charset="-120"/>
              </a:rPr>
              <a:t>RQ2 · Cheap to cut</a:t>
            </a:r>
            <a:endParaRPr lang="en-US" sz="1600" dirty="0"/>
          </a:p>
        </p:txBody>
      </p:sp>
      <p:sp>
        <p:nvSpPr>
          <p:cNvPr id="9" name="Text 7"/>
          <p:cNvSpPr txBox="1"/>
          <p:nvPr/>
        </p:nvSpPr>
        <p:spPr>
          <a:xfrm>
            <a:off x="4591202" y="2880360"/>
            <a:ext cx="3009290" cy="105156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...substantially, at the compression layer — provided the accuracy cost is tolerable and the runtime can actually exploit the technique.</a:t>
            </a:r>
            <a:endParaRPr lang="en-US" sz="1350" dirty="0"/>
          </a:p>
        </p:txBody>
      </p:sp>
      <p:sp>
        <p:nvSpPr>
          <p:cNvPr id="10" name="Shape 8"/>
          <p:cNvSpPr/>
          <p:nvPr/>
        </p:nvSpPr>
        <p:spPr>
          <a:xfrm>
            <a:off x="8085125" y="2148840"/>
            <a:ext cx="3466490" cy="1965960"/>
          </a:xfrm>
          <a:prstGeom prst="roundRect">
            <a:avLst>
              <a:gd name="adj" fmla="val 4186"/>
            </a:avLst>
          </a:prstGeom>
          <a:solidFill>
            <a:srgbClr val="1E4438"/>
          </a:solidFill>
          <a:ln/>
          <a:effectLst>
            <a:outerShdw sx="100000" sy="100000" kx="0" ky="0" algn="bl" rotWithShape="0" blurRad="76200" dist="25400" dir="5400000">
              <a:srgbClr val="000000">
                <a:alpha val="12000"/>
              </a:srgbClr>
            </a:outerShdw>
          </a:effectLst>
        </p:spPr>
      </p:sp>
      <p:sp>
        <p:nvSpPr>
          <p:cNvPr id="11" name="Text 9"/>
          <p:cNvSpPr txBox="1"/>
          <p:nvPr/>
        </p:nvSpPr>
        <p:spPr>
          <a:xfrm>
            <a:off x="8313725" y="2350008"/>
            <a:ext cx="3009290" cy="457200"/>
          </a:xfrm>
          <a:prstGeom prst="rect">
            <a:avLst/>
          </a:prstGeom>
          <a:noFill/>
          <a:ln/>
        </p:spPr>
        <p:txBody>
          <a:bodyPr wrap="square" lIns="0" tIns="0" rIns="0" bIns="0" rtlCol="0" anchor="ctr"/>
          <a:lstStyle/>
          <a:p>
            <a:pPr indent="0" marL="0">
              <a:buNone/>
            </a:pPr>
            <a:r>
              <a:rPr lang="en-US" sz="1600" b="1" dirty="0">
                <a:solidFill>
                  <a:srgbClr val="8FBF9F"/>
                </a:solidFill>
                <a:latin typeface="Cambria" pitchFamily="34" charset="0"/>
                <a:ea typeface="Cambria" pitchFamily="34" charset="-122"/>
                <a:cs typeface="Cambria" pitchFamily="34" charset="-120"/>
              </a:rPr>
              <a:t>RQ3 · No free lunch</a:t>
            </a:r>
            <a:endParaRPr lang="en-US" sz="1600" dirty="0"/>
          </a:p>
        </p:txBody>
      </p:sp>
      <p:sp>
        <p:nvSpPr>
          <p:cNvPr id="12" name="Text 10"/>
          <p:cNvSpPr txBox="1"/>
          <p:nvPr/>
        </p:nvSpPr>
        <p:spPr>
          <a:xfrm>
            <a:off x="8313725" y="2880360"/>
            <a:ext cx="3009290" cy="105156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...reducible at the execution layer, but mainly by trading away latency headroom, not through a free reduction.</a:t>
            </a:r>
            <a:endParaRPr lang="en-US" sz="1350" dirty="0"/>
          </a:p>
        </p:txBody>
      </p:sp>
      <p:sp>
        <p:nvSpPr>
          <p:cNvPr id="13" name="Text 11"/>
          <p:cNvSpPr txBox="1"/>
          <p:nvPr/>
        </p:nvSpPr>
        <p:spPr>
          <a:xfrm>
            <a:off x="640080" y="4434840"/>
            <a:ext cx="10911535" cy="9144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The recurring theme: </a:t>
            </a:r>
            <a:pPr indent="0" marL="0">
              <a:buNone/>
            </a:pPr>
            <a:r>
              <a:rPr lang="en-US" sz="1600" i="1" dirty="0">
                <a:solidFill>
                  <a:srgbClr val="C9D6CD"/>
                </a:solidFill>
                <a:latin typeface="Calibri" pitchFamily="34" charset="0"/>
                <a:ea typeface="Calibri" pitchFamily="34" charset="-122"/>
                <a:cs typeface="Calibri" pitchFamily="34" charset="-120"/>
              </a:rPr>
              <a:t>every “green” gain measured here is real, but conditional — on runtime support, on how much latency margin a deployment can spare, and on which dimension of a search space is actually varied.</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C97A2B"/>
                </a:solidFill>
                <a:latin typeface="Calibri" pitchFamily="34" charset="0"/>
                <a:ea typeface="Calibri" pitchFamily="34" charset="-122"/>
                <a:cs typeface="Calibri" pitchFamily="34" charset="-120"/>
              </a:rPr>
              <a:t>LIMITATIONS</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2800" b="1" dirty="0">
                <a:solidFill>
                  <a:srgbClr val="16302A"/>
                </a:solidFill>
                <a:latin typeface="Cambria" pitchFamily="34" charset="0"/>
                <a:ea typeface="Cambria" pitchFamily="34" charset="-122"/>
                <a:cs typeface="Cambria" pitchFamily="34" charset="-120"/>
              </a:rPr>
              <a:t>Stated plainly, not buried in a footnote</a:t>
            </a:r>
            <a:endParaRPr lang="en-US" sz="2800" dirty="0"/>
          </a:p>
        </p:txBody>
      </p:sp>
      <p:sp>
        <p:nvSpPr>
          <p:cNvPr id="4" name="Shape 2"/>
          <p:cNvSpPr/>
          <p:nvPr/>
        </p:nvSpPr>
        <p:spPr>
          <a:xfrm>
            <a:off x="640080" y="2148840"/>
            <a:ext cx="5341468" cy="1051560"/>
          </a:xfrm>
          <a:prstGeom prst="roundRect">
            <a:avLst>
              <a:gd name="adj" fmla="val 7826"/>
            </a:avLst>
          </a:prstGeom>
          <a:solidFill>
            <a:srgbClr val="EDF3EE"/>
          </a:solidFill>
          <a:ln/>
          <a:effectLst>
            <a:outerShdw sx="100000" sy="100000" kx="0" ky="0" algn="bl" rotWithShape="0" blurRad="76200" dist="25400" dir="5400000">
              <a:srgbClr val="000000">
                <a:alpha val="12000"/>
              </a:srgbClr>
            </a:outerShdw>
          </a:effectLst>
        </p:spPr>
      </p:sp>
      <p:sp>
        <p:nvSpPr>
          <p:cNvPr id="5" name="Text 3"/>
          <p:cNvSpPr txBox="1"/>
          <p:nvPr/>
        </p:nvSpPr>
        <p:spPr>
          <a:xfrm>
            <a:off x="868680" y="2286000"/>
            <a:ext cx="4884268" cy="777240"/>
          </a:xfrm>
          <a:prstGeom prst="rect">
            <a:avLst/>
          </a:prstGeom>
          <a:noFill/>
          <a:ln/>
        </p:spPr>
        <p:txBody>
          <a:bodyPr wrap="square" lIns="0" tIns="0" rIns="0" bIns="0" rtlCol="0" anchor="ctr"/>
          <a:lstStyle/>
          <a:p>
            <a:pPr indent="0" marL="0">
              <a:buNone/>
            </a:pPr>
            <a:r>
              <a:rPr lang="en-US" sz="1300" b="1" dirty="0">
                <a:solidFill>
                  <a:srgbClr val="16302A"/>
                </a:solidFill>
                <a:latin typeface="Calibri" pitchFamily="34" charset="0"/>
                <a:ea typeface="Calibri" pitchFamily="34" charset="-122"/>
                <a:cs typeface="Calibri" pitchFamily="34" charset="-120"/>
              </a:rPr>
              <a:t>Hardware: </a:t>
            </a:r>
            <a:pPr indent="0" marL="0">
              <a:buNone/>
            </a:pPr>
            <a:r>
              <a:rPr lang="en-US" sz="1300" dirty="0">
                <a:solidFill>
                  <a:srgbClr val="4A5A52"/>
                </a:solidFill>
                <a:latin typeface="Calibri" pitchFamily="34" charset="0"/>
                <a:ea typeface="Calibri" pitchFamily="34" charset="-122"/>
                <a:cs typeface="Calibri" pitchFamily="34" charset="-120"/>
              </a:rPr>
              <a:t>no RAPL, no GPU — forced the Scaphandre and power-capping substitutions</a:t>
            </a:r>
            <a:endParaRPr lang="en-US" sz="1300" dirty="0"/>
          </a:p>
        </p:txBody>
      </p:sp>
      <p:sp>
        <p:nvSpPr>
          <p:cNvPr id="6" name="Shape 4"/>
          <p:cNvSpPr/>
          <p:nvPr/>
        </p:nvSpPr>
        <p:spPr>
          <a:xfrm>
            <a:off x="6210148" y="2148840"/>
            <a:ext cx="5341468" cy="1051560"/>
          </a:xfrm>
          <a:prstGeom prst="roundRect">
            <a:avLst>
              <a:gd name="adj" fmla="val 7826"/>
            </a:avLst>
          </a:prstGeom>
          <a:solidFill>
            <a:srgbClr val="EDF3EE"/>
          </a:solidFill>
          <a:ln/>
          <a:effectLst>
            <a:outerShdw sx="100000" sy="100000" kx="0" ky="0" algn="bl" rotWithShape="0" blurRad="76200" dist="25400" dir="5400000">
              <a:srgbClr val="000000">
                <a:alpha val="12000"/>
              </a:srgbClr>
            </a:outerShdw>
          </a:effectLst>
        </p:spPr>
      </p:sp>
      <p:sp>
        <p:nvSpPr>
          <p:cNvPr id="7" name="Text 5"/>
          <p:cNvSpPr txBox="1"/>
          <p:nvPr/>
        </p:nvSpPr>
        <p:spPr>
          <a:xfrm>
            <a:off x="6438748" y="2286000"/>
            <a:ext cx="4884268" cy="777240"/>
          </a:xfrm>
          <a:prstGeom prst="rect">
            <a:avLst/>
          </a:prstGeom>
          <a:noFill/>
          <a:ln/>
        </p:spPr>
        <p:txBody>
          <a:bodyPr wrap="square" lIns="0" tIns="0" rIns="0" bIns="0" rtlCol="0" anchor="ctr"/>
          <a:lstStyle/>
          <a:p>
            <a:pPr indent="0" marL="0">
              <a:buNone/>
            </a:pPr>
            <a:r>
              <a:rPr lang="en-US" sz="1300" b="1" dirty="0">
                <a:solidFill>
                  <a:srgbClr val="16302A"/>
                </a:solidFill>
                <a:latin typeface="Calibri" pitchFamily="34" charset="0"/>
                <a:ea typeface="Calibri" pitchFamily="34" charset="-122"/>
                <a:cs typeface="Calibri" pitchFamily="34" charset="-120"/>
              </a:rPr>
              <a:t>Scale: </a:t>
            </a:r>
            <a:pPr indent="0" marL="0">
              <a:buNone/>
            </a:pPr>
            <a:r>
              <a:rPr lang="en-US" sz="1300" dirty="0">
                <a:solidFill>
                  <a:srgbClr val="4A5A52"/>
                </a:solidFill>
                <a:latin typeface="Calibri" pitchFamily="34" charset="0"/>
                <a:ea typeface="Calibri" pitchFamily="34" charset="-122"/>
                <a:cs typeface="Calibri" pitchFamily="34" charset="-120"/>
              </a:rPr>
              <a:t>500 train / 100 eval examples — relative comparisons hold, absolute accuracy does not generalize</a:t>
            </a:r>
            <a:endParaRPr lang="en-US" sz="1300" dirty="0"/>
          </a:p>
        </p:txBody>
      </p:sp>
      <p:sp>
        <p:nvSpPr>
          <p:cNvPr id="8" name="Shape 6"/>
          <p:cNvSpPr/>
          <p:nvPr/>
        </p:nvSpPr>
        <p:spPr>
          <a:xfrm>
            <a:off x="640080" y="3429000"/>
            <a:ext cx="5341468" cy="1051560"/>
          </a:xfrm>
          <a:prstGeom prst="roundRect">
            <a:avLst>
              <a:gd name="adj" fmla="val 7826"/>
            </a:avLst>
          </a:prstGeom>
          <a:solidFill>
            <a:srgbClr val="EDF3EE"/>
          </a:solidFill>
          <a:ln/>
          <a:effectLst>
            <a:outerShdw sx="100000" sy="100000" kx="0" ky="0" algn="bl" rotWithShape="0" blurRad="76200" dist="25400" dir="5400000">
              <a:srgbClr val="000000">
                <a:alpha val="12000"/>
              </a:srgbClr>
            </a:outerShdw>
          </a:effectLst>
        </p:spPr>
      </p:sp>
      <p:sp>
        <p:nvSpPr>
          <p:cNvPr id="9" name="Text 7"/>
          <p:cNvSpPr txBox="1"/>
          <p:nvPr/>
        </p:nvSpPr>
        <p:spPr>
          <a:xfrm>
            <a:off x="868680" y="3566160"/>
            <a:ext cx="4884268" cy="777240"/>
          </a:xfrm>
          <a:prstGeom prst="rect">
            <a:avLst/>
          </a:prstGeom>
          <a:noFill/>
          <a:ln/>
        </p:spPr>
        <p:txBody>
          <a:bodyPr wrap="square" lIns="0" tIns="0" rIns="0" bIns="0" rtlCol="0" anchor="ctr"/>
          <a:lstStyle/>
          <a:p>
            <a:pPr indent="0" marL="0">
              <a:buNone/>
            </a:pPr>
            <a:r>
              <a:rPr lang="en-US" sz="1300" b="1" dirty="0">
                <a:solidFill>
                  <a:srgbClr val="16302A"/>
                </a:solidFill>
                <a:latin typeface="Calibri" pitchFamily="34" charset="0"/>
                <a:ea typeface="Calibri" pitchFamily="34" charset="-122"/>
                <a:cs typeface="Calibri" pitchFamily="34" charset="-120"/>
              </a:rPr>
              <a:t>Measurement noise: </a:t>
            </a:r>
            <a:pPr indent="0" marL="0">
              <a:buNone/>
            </a:pPr>
            <a:r>
              <a:rPr lang="en-US" sz="1300" dirty="0">
                <a:solidFill>
                  <a:srgbClr val="4A5A52"/>
                </a:solidFill>
                <a:latin typeface="Calibri" pitchFamily="34" charset="0"/>
                <a:ea typeface="Calibri" pitchFamily="34" charset="-122"/>
                <a:cs typeface="Calibri" pitchFamily="34" charset="-120"/>
              </a:rPr>
              <a:t>CodeCarbon's 1-second sampling dominates readings on sub-5-second runs</a:t>
            </a:r>
            <a:endParaRPr lang="en-US" sz="1300" dirty="0"/>
          </a:p>
        </p:txBody>
      </p:sp>
      <p:sp>
        <p:nvSpPr>
          <p:cNvPr id="10" name="Shape 8"/>
          <p:cNvSpPr/>
          <p:nvPr/>
        </p:nvSpPr>
        <p:spPr>
          <a:xfrm>
            <a:off x="6210148" y="3429000"/>
            <a:ext cx="5341468" cy="1051560"/>
          </a:xfrm>
          <a:prstGeom prst="roundRect">
            <a:avLst>
              <a:gd name="adj" fmla="val 7826"/>
            </a:avLst>
          </a:prstGeom>
          <a:solidFill>
            <a:srgbClr val="EDF3EE"/>
          </a:solidFill>
          <a:ln/>
          <a:effectLst>
            <a:outerShdw sx="100000" sy="100000" kx="0" ky="0" algn="bl" rotWithShape="0" blurRad="76200" dist="25400" dir="5400000">
              <a:srgbClr val="000000">
                <a:alpha val="12000"/>
              </a:srgbClr>
            </a:outerShdw>
          </a:effectLst>
        </p:spPr>
      </p:sp>
      <p:sp>
        <p:nvSpPr>
          <p:cNvPr id="11" name="Text 9"/>
          <p:cNvSpPr txBox="1"/>
          <p:nvPr/>
        </p:nvSpPr>
        <p:spPr>
          <a:xfrm>
            <a:off x="6438748" y="3566160"/>
            <a:ext cx="4884268" cy="777240"/>
          </a:xfrm>
          <a:prstGeom prst="rect">
            <a:avLst/>
          </a:prstGeom>
          <a:noFill/>
          <a:ln/>
        </p:spPr>
        <p:txBody>
          <a:bodyPr wrap="square" lIns="0" tIns="0" rIns="0" bIns="0" rtlCol="0" anchor="ctr"/>
          <a:lstStyle/>
          <a:p>
            <a:pPr indent="0" marL="0">
              <a:buNone/>
            </a:pPr>
            <a:r>
              <a:rPr lang="en-US" sz="1300" b="1" dirty="0">
                <a:solidFill>
                  <a:srgbClr val="16302A"/>
                </a:solidFill>
                <a:latin typeface="Calibri" pitchFamily="34" charset="0"/>
                <a:ea typeface="Calibri" pitchFamily="34" charset="-122"/>
                <a:cs typeface="Calibri" pitchFamily="34" charset="-120"/>
              </a:rPr>
              <a:t>Pruning result is runtime-specific: </a:t>
            </a:r>
            <a:pPr indent="0" marL="0">
              <a:buNone/>
            </a:pPr>
            <a:r>
              <a:rPr lang="en-US" sz="1300" dirty="0">
                <a:solidFill>
                  <a:srgbClr val="4A5A52"/>
                </a:solidFill>
                <a:latin typeface="Calibri" pitchFamily="34" charset="0"/>
                <a:ea typeface="Calibri" pitchFamily="34" charset="-122"/>
                <a:cs typeface="Calibri" pitchFamily="34" charset="-120"/>
              </a:rPr>
              <a:t>zero benefit without a sparse-compute-aware backend, not a general verdict</a:t>
            </a:r>
            <a:endParaRPr lang="en-US" sz="1300" dirty="0"/>
          </a:p>
        </p:txBody>
      </p:sp>
      <p:sp>
        <p:nvSpPr>
          <p:cNvPr id="12" name="Shape 10"/>
          <p:cNvSpPr/>
          <p:nvPr/>
        </p:nvSpPr>
        <p:spPr>
          <a:xfrm>
            <a:off x="640080" y="4709160"/>
            <a:ext cx="5341468" cy="1051560"/>
          </a:xfrm>
          <a:prstGeom prst="roundRect">
            <a:avLst>
              <a:gd name="adj" fmla="val 7826"/>
            </a:avLst>
          </a:prstGeom>
          <a:solidFill>
            <a:srgbClr val="EDF3EE"/>
          </a:solidFill>
          <a:ln/>
          <a:effectLst>
            <a:outerShdw sx="100000" sy="100000" kx="0" ky="0" algn="bl" rotWithShape="0" blurRad="76200" dist="25400" dir="5400000">
              <a:srgbClr val="000000">
                <a:alpha val="12000"/>
              </a:srgbClr>
            </a:outerShdw>
          </a:effectLst>
        </p:spPr>
      </p:sp>
      <p:sp>
        <p:nvSpPr>
          <p:cNvPr id="13" name="Text 11"/>
          <p:cNvSpPr txBox="1"/>
          <p:nvPr/>
        </p:nvSpPr>
        <p:spPr>
          <a:xfrm>
            <a:off x="868680" y="4846320"/>
            <a:ext cx="4884268" cy="777240"/>
          </a:xfrm>
          <a:prstGeom prst="rect">
            <a:avLst/>
          </a:prstGeom>
          <a:noFill/>
          <a:ln/>
        </p:spPr>
        <p:txBody>
          <a:bodyPr wrap="square" lIns="0" tIns="0" rIns="0" bIns="0" rtlCol="0" anchor="ctr"/>
          <a:lstStyle/>
          <a:p>
            <a:pPr indent="0" marL="0">
              <a:buNone/>
            </a:pPr>
            <a:r>
              <a:rPr lang="en-US" sz="1300" b="1" dirty="0">
                <a:solidFill>
                  <a:srgbClr val="16302A"/>
                </a:solidFill>
                <a:latin typeface="Calibri" pitchFamily="34" charset="0"/>
                <a:ea typeface="Calibri" pitchFamily="34" charset="-122"/>
                <a:cs typeface="Calibri" pitchFamily="34" charset="-120"/>
              </a:rPr>
              <a:t>RQ3b confound: </a:t>
            </a:r>
            <a:pPr indent="0" marL="0">
              <a:buNone/>
            </a:pPr>
            <a:r>
              <a:rPr lang="en-US" sz="1300" dirty="0">
                <a:solidFill>
                  <a:srgbClr val="4A5A52"/>
                </a:solidFill>
                <a:latin typeface="Calibri" pitchFamily="34" charset="0"/>
                <a:ea typeface="Calibri" pitchFamily="34" charset="-122"/>
                <a:cs typeface="Calibri" pitchFamily="34" charset="-120"/>
              </a:rPr>
              <a:t>search breadth (grid) vs. depth (early stopping), not a budget-matched comparison</a:t>
            </a:r>
            <a:endParaRPr lang="en-US" sz="1300" dirty="0"/>
          </a:p>
        </p:txBody>
      </p:sp>
      <p:sp>
        <p:nvSpPr>
          <p:cNvPr id="14" name="Shape 12"/>
          <p:cNvSpPr/>
          <p:nvPr/>
        </p:nvSpPr>
        <p:spPr>
          <a:xfrm>
            <a:off x="6210148" y="4709160"/>
            <a:ext cx="5341468" cy="1051560"/>
          </a:xfrm>
          <a:prstGeom prst="roundRect">
            <a:avLst>
              <a:gd name="adj" fmla="val 7826"/>
            </a:avLst>
          </a:prstGeom>
          <a:solidFill>
            <a:srgbClr val="EDF3EE"/>
          </a:solidFill>
          <a:ln/>
          <a:effectLst>
            <a:outerShdw sx="100000" sy="100000" kx="0" ky="0" algn="bl" rotWithShape="0" blurRad="76200" dist="25400" dir="5400000">
              <a:srgbClr val="000000">
                <a:alpha val="12000"/>
              </a:srgbClr>
            </a:outerShdw>
          </a:effectLst>
        </p:spPr>
      </p:sp>
      <p:sp>
        <p:nvSpPr>
          <p:cNvPr id="15" name="Text 13"/>
          <p:cNvSpPr txBox="1"/>
          <p:nvPr/>
        </p:nvSpPr>
        <p:spPr>
          <a:xfrm>
            <a:off x="6438748" y="4846320"/>
            <a:ext cx="4884268" cy="777240"/>
          </a:xfrm>
          <a:prstGeom prst="rect">
            <a:avLst/>
          </a:prstGeom>
          <a:noFill/>
          <a:ln/>
        </p:spPr>
        <p:txBody>
          <a:bodyPr wrap="square" lIns="0" tIns="0" rIns="0" bIns="0" rtlCol="0" anchor="ctr"/>
          <a:lstStyle/>
          <a:p>
            <a:pPr indent="0" marL="0">
              <a:buNone/>
            </a:pPr>
            <a:r>
              <a:rPr lang="en-US" sz="1300" b="1" dirty="0">
                <a:solidFill>
                  <a:srgbClr val="16302A"/>
                </a:solidFill>
                <a:latin typeface="Calibri" pitchFamily="34" charset="0"/>
                <a:ea typeface="Calibri" pitchFamily="34" charset="-122"/>
                <a:cs typeface="Calibri" pitchFamily="34" charset="-120"/>
              </a:rPr>
              <a:t>Single runs: </a:t>
            </a:r>
            <a:pPr indent="0" marL="0">
              <a:buNone/>
            </a:pPr>
            <a:r>
              <a:rPr lang="en-US" sz="1300" dirty="0">
                <a:solidFill>
                  <a:srgbClr val="4A5A52"/>
                </a:solidFill>
                <a:latin typeface="Calibri" pitchFamily="34" charset="0"/>
                <a:ea typeface="Calibri" pitchFamily="34" charset="-122"/>
                <a:cs typeface="Calibri" pitchFamily="34" charset="-120"/>
              </a:rPr>
              <a:t>most results reflect one run per configuration, not repeated trials with variance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302A"/>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365760"/>
          </a:xfrm>
          <a:prstGeom prst="rect">
            <a:avLst/>
          </a:prstGeom>
          <a:noFill/>
          <a:ln/>
        </p:spPr>
        <p:txBody>
          <a:bodyPr wrap="square" lIns="0" tIns="0" rIns="0" bIns="0" rtlCol="0" anchor="ctr"/>
          <a:lstStyle/>
          <a:p>
            <a:pPr indent="0" marL="0">
              <a:buNone/>
            </a:pPr>
            <a:r>
              <a:rPr lang="en-US" sz="1300" b="1" spc="200" kern="0" dirty="0">
                <a:solidFill>
                  <a:srgbClr val="8FBF9F"/>
                </a:solidFill>
                <a:latin typeface="Calibri" pitchFamily="34" charset="0"/>
                <a:ea typeface="Calibri" pitchFamily="34" charset="-122"/>
                <a:cs typeface="Calibri" pitchFamily="34" charset="-120"/>
              </a:rPr>
              <a:t>CONCLUSION</a:t>
            </a:r>
            <a:endParaRPr lang="en-US" sz="1300" dirty="0"/>
          </a:p>
        </p:txBody>
      </p:sp>
      <p:sp>
        <p:nvSpPr>
          <p:cNvPr id="3" name="Text 1"/>
          <p:cNvSpPr txBox="1"/>
          <p:nvPr/>
        </p:nvSpPr>
        <p:spPr>
          <a:xfrm>
            <a:off x="640080" y="868680"/>
            <a:ext cx="10911535" cy="10058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All three research questions, answered</a:t>
            </a:r>
            <a:endParaRPr lang="en-US" sz="2800" dirty="0"/>
          </a:p>
        </p:txBody>
      </p:sp>
      <p:sp>
        <p:nvSpPr>
          <p:cNvPr id="4" name="Shape 2"/>
          <p:cNvSpPr/>
          <p:nvPr/>
        </p:nvSpPr>
        <p:spPr>
          <a:xfrm>
            <a:off x="640080" y="2103120"/>
            <a:ext cx="10911535" cy="777240"/>
          </a:xfrm>
          <a:prstGeom prst="roundRect">
            <a:avLst>
              <a:gd name="adj" fmla="val 10588"/>
            </a:avLst>
          </a:prstGeom>
          <a:solidFill>
            <a:srgbClr val="1E4438"/>
          </a:solidFill>
          <a:ln/>
          <a:effectLst>
            <a:outerShdw sx="100000" sy="100000" kx="0" ky="0" algn="bl" rotWithShape="0" blurRad="76200" dist="25400" dir="5400000">
              <a:srgbClr val="000000">
                <a:alpha val="12000"/>
              </a:srgbClr>
            </a:outerShdw>
          </a:effectLst>
        </p:spPr>
      </p:sp>
      <p:sp>
        <p:nvSpPr>
          <p:cNvPr id="5" name="Text 3"/>
          <p:cNvSpPr txBox="1"/>
          <p:nvPr/>
        </p:nvSpPr>
        <p:spPr>
          <a:xfrm>
            <a:off x="914400" y="2103120"/>
            <a:ext cx="10362895" cy="777240"/>
          </a:xfrm>
          <a:prstGeom prst="rect">
            <a:avLst/>
          </a:prstGeom>
          <a:noFill/>
          <a:ln/>
        </p:spPr>
        <p:txBody>
          <a:bodyPr wrap="square" lIns="0" tIns="0" rIns="0" bIns="0" rtlCol="0" anchor="ctr"/>
          <a:lstStyle/>
          <a:p>
            <a:pPr indent="0" marL="0">
              <a:buNone/>
            </a:pPr>
            <a:r>
              <a:rPr lang="en-US" sz="1500" b="1" dirty="0">
                <a:solidFill>
                  <a:srgbClr val="8FBF9F"/>
                </a:solidFill>
                <a:latin typeface="Calibri" pitchFamily="34" charset="0"/>
                <a:ea typeface="Calibri" pitchFamily="34" charset="-122"/>
                <a:cs typeface="Calibri" pitchFamily="34" charset="-120"/>
              </a:rPr>
              <a:t>RQ1:  </a:t>
            </a:r>
            <a:pPr indent="0" marL="0">
              <a:buNone/>
            </a:pPr>
            <a:r>
              <a:rPr lang="en-US" sz="1500" dirty="0">
                <a:solidFill>
                  <a:srgbClr val="FFFFFF"/>
                </a:solidFill>
                <a:latin typeface="Calibri" pitchFamily="34" charset="0"/>
                <a:ea typeface="Calibri" pitchFamily="34" charset="-122"/>
                <a:cs typeface="Calibri" pitchFamily="34" charset="-120"/>
              </a:rPr>
              <a:t>a single reusable context manager integrates power tracking with zero changes to model or training code</a:t>
            </a:r>
            <a:endParaRPr lang="en-US" sz="1500" dirty="0"/>
          </a:p>
        </p:txBody>
      </p:sp>
      <p:sp>
        <p:nvSpPr>
          <p:cNvPr id="6" name="Shape 4"/>
          <p:cNvSpPr/>
          <p:nvPr/>
        </p:nvSpPr>
        <p:spPr>
          <a:xfrm>
            <a:off x="640080" y="3044952"/>
            <a:ext cx="10911535" cy="777240"/>
          </a:xfrm>
          <a:prstGeom prst="roundRect">
            <a:avLst>
              <a:gd name="adj" fmla="val 10588"/>
            </a:avLst>
          </a:prstGeom>
          <a:solidFill>
            <a:srgbClr val="1E4438"/>
          </a:solidFill>
          <a:ln/>
          <a:effectLst>
            <a:outerShdw sx="100000" sy="100000" kx="0" ky="0" algn="bl" rotWithShape="0" blurRad="76200" dist="25400" dir="5400000">
              <a:srgbClr val="000000">
                <a:alpha val="12000"/>
              </a:srgbClr>
            </a:outerShdw>
          </a:effectLst>
        </p:spPr>
      </p:sp>
      <p:sp>
        <p:nvSpPr>
          <p:cNvPr id="7" name="Text 5"/>
          <p:cNvSpPr txBox="1"/>
          <p:nvPr/>
        </p:nvSpPr>
        <p:spPr>
          <a:xfrm>
            <a:off x="914400" y="3044952"/>
            <a:ext cx="10362895" cy="777240"/>
          </a:xfrm>
          <a:prstGeom prst="rect">
            <a:avLst/>
          </a:prstGeom>
          <a:noFill/>
          <a:ln/>
        </p:spPr>
        <p:txBody>
          <a:bodyPr wrap="square" lIns="0" tIns="0" rIns="0" bIns="0" rtlCol="0" anchor="ctr"/>
          <a:lstStyle/>
          <a:p>
            <a:pPr indent="0" marL="0">
              <a:buNone/>
            </a:pPr>
            <a:r>
              <a:rPr lang="en-US" sz="1500" b="1" dirty="0">
                <a:solidFill>
                  <a:srgbClr val="8FBF9F"/>
                </a:solidFill>
                <a:latin typeface="Calibri" pitchFamily="34" charset="0"/>
                <a:ea typeface="Calibri" pitchFamily="34" charset="-122"/>
                <a:cs typeface="Calibri" pitchFamily="34" charset="-120"/>
              </a:rPr>
              <a:t>RQ2:  </a:t>
            </a:r>
            <a:pPr indent="0" marL="0">
              <a:buNone/>
            </a:pPr>
            <a:r>
              <a:rPr lang="en-US" sz="1500" dirty="0">
                <a:solidFill>
                  <a:srgbClr val="FFFFFF"/>
                </a:solidFill>
                <a:latin typeface="Calibri" pitchFamily="34" charset="0"/>
                <a:ea typeface="Calibri" pitchFamily="34" charset="-122"/>
                <a:cs typeface="Calibri" pitchFamily="34" charset="-120"/>
              </a:rPr>
              <a:t>quantization is the clear win; unstructured pruning offers no benefit under dense storage</a:t>
            </a:r>
            <a:endParaRPr lang="en-US" sz="1500" dirty="0"/>
          </a:p>
        </p:txBody>
      </p:sp>
      <p:sp>
        <p:nvSpPr>
          <p:cNvPr id="8" name="Shape 6"/>
          <p:cNvSpPr/>
          <p:nvPr/>
        </p:nvSpPr>
        <p:spPr>
          <a:xfrm>
            <a:off x="640080" y="3986784"/>
            <a:ext cx="10911535" cy="777240"/>
          </a:xfrm>
          <a:prstGeom prst="roundRect">
            <a:avLst>
              <a:gd name="adj" fmla="val 10588"/>
            </a:avLst>
          </a:prstGeom>
          <a:solidFill>
            <a:srgbClr val="1E4438"/>
          </a:solidFill>
          <a:ln/>
          <a:effectLst>
            <a:outerShdw sx="100000" sy="100000" kx="0" ky="0" algn="bl" rotWithShape="0" blurRad="76200" dist="25400" dir="5400000">
              <a:srgbClr val="000000">
                <a:alpha val="12000"/>
              </a:srgbClr>
            </a:outerShdw>
          </a:effectLst>
        </p:spPr>
      </p:sp>
      <p:sp>
        <p:nvSpPr>
          <p:cNvPr id="9" name="Text 7"/>
          <p:cNvSpPr txBox="1"/>
          <p:nvPr/>
        </p:nvSpPr>
        <p:spPr>
          <a:xfrm>
            <a:off x="914400" y="3986784"/>
            <a:ext cx="10362895" cy="777240"/>
          </a:xfrm>
          <a:prstGeom prst="rect">
            <a:avLst/>
          </a:prstGeom>
          <a:noFill/>
          <a:ln/>
        </p:spPr>
        <p:txBody>
          <a:bodyPr wrap="square" lIns="0" tIns="0" rIns="0" bIns="0" rtlCol="0" anchor="ctr"/>
          <a:lstStyle/>
          <a:p>
            <a:pPr indent="0" marL="0">
              <a:buNone/>
            </a:pPr>
            <a:r>
              <a:rPr lang="en-US" sz="1500" b="1" dirty="0">
                <a:solidFill>
                  <a:srgbClr val="8FBF9F"/>
                </a:solidFill>
                <a:latin typeface="Calibri" pitchFamily="34" charset="0"/>
                <a:ea typeface="Calibri" pitchFamily="34" charset="-122"/>
                <a:cs typeface="Calibri" pitchFamily="34" charset="-120"/>
              </a:rPr>
              <a:t>RQ3:  </a:t>
            </a:r>
            <a:pPr indent="0" marL="0">
              <a:buNone/>
            </a:pPr>
            <a:r>
              <a:rPr lang="en-US" sz="1500" dirty="0">
                <a:solidFill>
                  <a:srgbClr val="FFFFFF"/>
                </a:solidFill>
                <a:latin typeface="Calibri" pitchFamily="34" charset="0"/>
                <a:ea typeface="Calibri" pitchFamily="34" charset="-122"/>
                <a:cs typeface="Calibri" pitchFamily="34" charset="-120"/>
              </a:rPr>
              <a:t>resource capping cuts energy within the SLA; early stopping beats grid search on energy and quality</a:t>
            </a:r>
            <a:endParaRPr lang="en-US" sz="1500" dirty="0"/>
          </a:p>
        </p:txBody>
      </p:sp>
      <p:sp>
        <p:nvSpPr>
          <p:cNvPr id="10" name="Shape 8"/>
          <p:cNvSpPr/>
          <p:nvPr/>
        </p:nvSpPr>
        <p:spPr>
          <a:xfrm>
            <a:off x="640080" y="4974336"/>
            <a:ext cx="10911535" cy="868680"/>
          </a:xfrm>
          <a:prstGeom prst="roundRect">
            <a:avLst>
              <a:gd name="adj" fmla="val 9474"/>
            </a:avLst>
          </a:prstGeom>
          <a:solidFill>
            <a:srgbClr val="2F6F52"/>
          </a:solidFill>
          <a:ln/>
          <a:effectLst>
            <a:outerShdw sx="100000" sy="100000" kx="0" ky="0" algn="bl" rotWithShape="0" blurRad="76200" dist="25400" dir="5400000">
              <a:srgbClr val="000000">
                <a:alpha val="12000"/>
              </a:srgbClr>
            </a:outerShdw>
          </a:effectLst>
        </p:spPr>
      </p:sp>
      <p:sp>
        <p:nvSpPr>
          <p:cNvPr id="11" name="Text 9"/>
          <p:cNvSpPr txBox="1"/>
          <p:nvPr/>
        </p:nvSpPr>
        <p:spPr>
          <a:xfrm>
            <a:off x="914400" y="5065776"/>
            <a:ext cx="10362895"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Future work</a:t>
            </a:r>
            <a:endParaRPr lang="en-US" sz="1400" dirty="0"/>
          </a:p>
        </p:txBody>
      </p:sp>
      <p:sp>
        <p:nvSpPr>
          <p:cNvPr id="12" name="Text 10"/>
          <p:cNvSpPr txBox="1"/>
          <p:nvPr/>
        </p:nvSpPr>
        <p:spPr>
          <a:xfrm>
            <a:off x="914400" y="5385816"/>
            <a:ext cx="10362895"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Validate against real RAPL/GPU hardware  ·  scale to the full IMDb set  ·  try structured pruning or distillation  ·  repeat across multiple seeds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302A"/>
        </a:solidFill>
      </p:bgPr>
    </p:bg>
    <p:spTree>
      <p:nvGrpSpPr>
        <p:cNvPr id="1" name=""/>
        <p:cNvGrpSpPr/>
        <p:nvPr/>
      </p:nvGrpSpPr>
      <p:grpSpPr>
        <a:xfrm>
          <a:off x="0" y="0"/>
          <a:ext cx="0" cy="0"/>
          <a:chOff x="0" y="0"/>
          <a:chExt cx="0" cy="0"/>
        </a:xfrm>
      </p:grpSpPr>
      <p:sp>
        <p:nvSpPr>
          <p:cNvPr id="2" name="Text 0"/>
          <p:cNvSpPr txBox="1"/>
          <p:nvPr/>
        </p:nvSpPr>
        <p:spPr>
          <a:xfrm>
            <a:off x="0" y="246888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0" y="3429000"/>
            <a:ext cx="12191695" cy="548640"/>
          </a:xfrm>
          <a:prstGeom prst="rect">
            <a:avLst/>
          </a:prstGeom>
          <a:noFill/>
          <a:ln/>
        </p:spPr>
        <p:txBody>
          <a:bodyPr wrap="square" lIns="0" tIns="0" rIns="0" bIns="0" rtlCol="0" anchor="ctr"/>
          <a:lstStyle/>
          <a:p>
            <a:pPr algn="ctr" indent="0" marL="0">
              <a:buNone/>
            </a:pPr>
            <a:r>
              <a:rPr lang="en-US" sz="2400" dirty="0">
                <a:solidFill>
                  <a:srgbClr val="C9D6CD"/>
                </a:solidFill>
                <a:latin typeface="Calibri" pitchFamily="34" charset="0"/>
                <a:ea typeface="Calibri" pitchFamily="34" charset="-122"/>
                <a:cs typeface="Calibri" pitchFamily="34" charset="-120"/>
              </a:rPr>
              <a:t>Questions?</a:t>
            </a:r>
            <a:endParaRPr lang="en-US" sz="2400" dirty="0"/>
          </a:p>
        </p:txBody>
      </p:sp>
      <p:sp>
        <p:nvSpPr>
          <p:cNvPr id="4" name="Shape 2"/>
          <p:cNvSpPr/>
          <p:nvPr/>
        </p:nvSpPr>
        <p:spPr>
          <a:xfrm>
            <a:off x="4815688" y="4160520"/>
            <a:ext cx="2560320" cy="0"/>
          </a:xfrm>
          <a:prstGeom prst="line">
            <a:avLst/>
          </a:prstGeom>
          <a:noFill/>
          <a:ln w="19050">
            <a:solidFill>
              <a:srgbClr val="2F6F52"/>
            </a:solidFill>
            <a:prstDash val="solid"/>
          </a:ln>
        </p:spPr>
      </p:sp>
      <p:sp>
        <p:nvSpPr>
          <p:cNvPr id="5" name="Text 3"/>
          <p:cNvSpPr txBox="1"/>
          <p:nvPr/>
        </p:nvSpPr>
        <p:spPr>
          <a:xfrm>
            <a:off x="0" y="4343400"/>
            <a:ext cx="12191695" cy="457200"/>
          </a:xfrm>
          <a:prstGeom prst="rect">
            <a:avLst/>
          </a:prstGeom>
          <a:noFill/>
          <a:ln/>
        </p:spPr>
        <p:txBody>
          <a:bodyPr wrap="square" lIns="0" tIns="0" rIns="0" bIns="0" rtlCol="0" anchor="ctr"/>
          <a:lstStyle/>
          <a:p>
            <a:pPr algn="ctr" indent="0" marL="0">
              <a:buNone/>
            </a:pPr>
            <a:r>
              <a:rPr lang="en-US" sz="1500" dirty="0">
                <a:solidFill>
                  <a:srgbClr val="C9D6CD"/>
                </a:solidFill>
                <a:latin typeface="Calibri" pitchFamily="34" charset="0"/>
                <a:ea typeface="Calibri" pitchFamily="34" charset="-122"/>
                <a:cs typeface="Calibri" pitchFamily="34" charset="-120"/>
              </a:rPr>
              <a:t>Nandan Muruli  ·  Green MLOps Case Study  ·  SRH University Heidelberg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MLOps Case Study</dc:title>
  <dc:subject>PptxGenJS Presentation</dc:subject>
  <dc:creator>Nandan Muruli</dc:creator>
  <cp:lastModifiedBy>Nandan Muruli</cp:lastModifiedBy>
  <cp:revision>1</cp:revision>
  <dcterms:created xsi:type="dcterms:W3CDTF">2026-09-23T07:57:26Z</dcterms:created>
  <dcterms:modified xsi:type="dcterms:W3CDTF">2026-09-23T07:57:26Z</dcterms:modified>
</cp:coreProperties>
</file>